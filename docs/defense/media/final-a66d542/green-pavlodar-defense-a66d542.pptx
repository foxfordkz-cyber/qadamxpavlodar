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57b4e8695c4906" /><Relationship Type="http://schemas.openxmlformats.org/officeDocument/2006/relationships/extended-properties" Target="/docProps/app.xml" Id="R62c9f8315b0e4c48" /><Relationship Type="http://schemas.openxmlformats.org/officeDocument/2006/relationships/officeDocument" Target="/ppt/presentation.xml" Id="R91e98fd23a5a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2f131250341fe"/>
  </p:sldMasterIdLst>
  <p:notesMasterIdLst>
    <p:notesMasterId xmlns:r="http://schemas.openxmlformats.org/officeDocument/2006/relationships" r:id="Rb15339a2770a496e"/>
  </p:notesMasterIdLst>
  <p:sldIdLst>
    <p:sldId xmlns:r="http://schemas.openxmlformats.org/officeDocument/2006/relationships" id="256" r:id="Ra89f9e68d6954593"/>
    <p:sldId xmlns:r="http://schemas.openxmlformats.org/officeDocument/2006/relationships" id="257" r:id="R22c4a6c90a2b4437"/>
    <p:sldId xmlns:r="http://schemas.openxmlformats.org/officeDocument/2006/relationships" id="258" r:id="R9b35ef92b1b44720"/>
    <p:sldId xmlns:r="http://schemas.openxmlformats.org/officeDocument/2006/relationships" id="259" r:id="Rdf4b5c89a08844e1"/>
    <p:sldId xmlns:r="http://schemas.openxmlformats.org/officeDocument/2006/relationships" id="260" r:id="R86e25d02bdad49e8"/>
    <p:sldId xmlns:r="http://schemas.openxmlformats.org/officeDocument/2006/relationships" id="261" r:id="Rdcf9883cc9dd481a"/>
    <p:sldId xmlns:r="http://schemas.openxmlformats.org/officeDocument/2006/relationships" id="262" r:id="R8e0ff1ff94384b2f"/>
    <p:sldId xmlns:r="http://schemas.openxmlformats.org/officeDocument/2006/relationships" id="263" r:id="Rbca7a39820af4a94"/>
    <p:sldId xmlns:r="http://schemas.openxmlformats.org/officeDocument/2006/relationships" id="264" r:id="Rb65ac786f9714a5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a432c7806454d" /><Relationship Type="http://schemas.openxmlformats.org/officeDocument/2006/relationships/slideMaster" Target="/ppt/slideMasters/slideMaster1.xml" Id="R7302f131250341fe" /><Relationship Type="http://schemas.openxmlformats.org/officeDocument/2006/relationships/notesMaster" Target="/ppt/notesMasters/notesMaster1.xml" Id="Rb15339a2770a496e" /><Relationship Type="http://schemas.openxmlformats.org/officeDocument/2006/relationships/presProps" Target="/ppt/presProps.xml" Id="R1aa68d0187bb4932" /><Relationship Type="http://schemas.openxmlformats.org/officeDocument/2006/relationships/tableStyles" Target="/ppt/tableStyles.xml" Id="Rdc757d9d09214add" /><Relationship Type="http://schemas.openxmlformats.org/officeDocument/2006/relationships/slide" Target="/ppt/slides/slide1.xml" Id="Ra89f9e68d6954593" /><Relationship Type="http://schemas.openxmlformats.org/officeDocument/2006/relationships/slide" Target="/ppt/slides/slide2.xml" Id="R22c4a6c90a2b4437" /><Relationship Type="http://schemas.openxmlformats.org/officeDocument/2006/relationships/slide" Target="/ppt/slides/slide3.xml" Id="R9b35ef92b1b44720" /><Relationship Type="http://schemas.openxmlformats.org/officeDocument/2006/relationships/slide" Target="/ppt/slides/slide4.xml" Id="Rdf4b5c89a08844e1" /><Relationship Type="http://schemas.openxmlformats.org/officeDocument/2006/relationships/slide" Target="/ppt/slides/slide5.xml" Id="R86e25d02bdad49e8" /><Relationship Type="http://schemas.openxmlformats.org/officeDocument/2006/relationships/slide" Target="/ppt/slides/slide6.xml" Id="Rdcf9883cc9dd481a" /><Relationship Type="http://schemas.openxmlformats.org/officeDocument/2006/relationships/slide" Target="/ppt/slides/slide7.xml" Id="R8e0ff1ff94384b2f" /><Relationship Type="http://schemas.openxmlformats.org/officeDocument/2006/relationships/slide" Target="/ppt/slides/slide8.xml" Id="Rbca7a39820af4a94" /><Relationship Type="http://schemas.openxmlformats.org/officeDocument/2006/relationships/slide" Target="/ppt/slides/slide9.xml" Id="Rb65ac786f9714a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8381f593c04f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c754be8c1449e8" /><Relationship Type="http://schemas.openxmlformats.org/officeDocument/2006/relationships/notesMaster" Target="/ppt/notesMasters/notesMaster1.xml" Id="Rbbe89682d175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fc7f8362804501" /><Relationship Type="http://schemas.openxmlformats.org/officeDocument/2006/relationships/notesMaster" Target="/ppt/notesMasters/notesMaster1.xml" Id="R638547c5c5844f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f1e2c61c8489c" /><Relationship Type="http://schemas.openxmlformats.org/officeDocument/2006/relationships/notesMaster" Target="/ppt/notesMasters/notesMaster1.xml" Id="R1b77bda15fa847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2b397395034f32" /><Relationship Type="http://schemas.openxmlformats.org/officeDocument/2006/relationships/notesMaster" Target="/ppt/notesMasters/notesMaster1.xml" Id="Rce074ce459a94f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85890cd64c44dc" /><Relationship Type="http://schemas.openxmlformats.org/officeDocument/2006/relationships/notesMaster" Target="/ppt/notesMasters/notesMaster1.xml" Id="R9e911967dfe9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5399107db74981" /><Relationship Type="http://schemas.openxmlformats.org/officeDocument/2006/relationships/notesMaster" Target="/ppt/notesMasters/notesMaster1.xml" Id="Rf6dd32a369ee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b9ec1600e4dc4" /><Relationship Type="http://schemas.openxmlformats.org/officeDocument/2006/relationships/notesMaster" Target="/ppt/notesMasters/notesMaster1.xml" Id="R516e95a88b444c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f10ca02904426f" /><Relationship Type="http://schemas.openxmlformats.org/officeDocument/2006/relationships/notesMaster" Target="/ppt/notesMasters/notesMaster1.xml" Id="R9e8662911a00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22e0f96c974424" /><Relationship Type="http://schemas.openxmlformats.org/officeDocument/2006/relationships/notesMaster" Target="/ppt/notesMasters/notesMaster1.xml" Id="R19012096ae1c4c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0:00–0:10, Дамир. «Green Pavlodar помогает обосновать озеленение: выбрать участок, оценить посадку и уход, затем сопоставить прогноз с наблюдением». Назвать mock. Рабочие пять минут не являются подтверждённым регламентом организатора.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C:\Users\User\Documents\Codex\2026-10-31\https-github-com-foxfordkz-cyber-qadamxpavlodar\work\final-media\captures/capture-manifest.json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0:10–0:35, Дамир. До 0:20 обзор и контур Толстого, затем 0:20–0:35 команды «нарисуй зону» / «аймақ сыз»: активировать рисование и отменить без создания новой зоны. Площадь 3 782 м² по OSM. Участок выбран как воспроизводимый пример, не самый приоритетный в городе. Контур и окружение OSM не подтверждают права на землю. Почва, проверки и история в mock демонстрационные.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C:\Users\User\Documents\Codex\2026-10-31\https-github-com-foxfordkz-cyber-qadamxpavlodar\work\final-media\captures/zone-overview-1280.txt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0:35–1:00, Дамир. Показать растения:1 345 всего,54 дерева,270 кустов,1 021 цветочное растение. Входы: сквер, optimal, все ярусы, maxShare 0.30, уход 3 года, регулярный полив, без улучшения почвы. Подбор показывает ограничения справочника. У ели виден риск засоления. Синтетическая почва не заменяет осмотр. Перейти к смете без смены входов.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C:\Users\User\Documents\Codex\2026-10-31\https-github-com-foxfordkz-cyber-qadamxpavlodar\work\final-media\captures/plants-focus.txt</a:t>
            </a:r>
          </a:p>
          <a:p xmlns:a="http://schemas.openxmlformats.org/drawingml/2006/main">
            <a:r>
              <a:t>C:\Users\User\Documents\Codex\2026-10-31\https-github-com-foxfordkz-cyber-qadamxpavlodar\work\final-media\captures/plants-focus.png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1:00–1:30, Бекзат. «Оптимальный», уход 3 года, регулярный полив, без улучшения почвы, все ярусы. Сумма пяти статей 10 825 628 ₸, уход 2 565 450 ₸. Цены демонстрационные. Показать допущения и отсутствующие данные. В Outcomes отдельное сравнение только деревьев за 3 года, его сумма не равна смешанной смете этой зоны.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C:\Users\User\Documents\Codex\2026-10-31\https-github-com-foxfordkz-cyber-qadamxpavlodar\work\final-media\captures/estimate-1280.txt</a:t>
            </a:r>
          </a:p>
          <a:p xmlns:a="http://schemas.openxmlformats.org/drawingml/2006/main">
            <a:r>
              <a:t>C:\Users\User\Documents\Codex\2026-10-31\https-github-com-foxfordkz-cyber-qadamxpavlodar\work\final-media\captures/report-estimate-focus.txt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1:30–1:55, Дамир. На вкладке «Эффект» показать посадку и 20 лет.1 976 м² кроны — расчётная оценка. Положение растений условное.324 древесных растения —54 дерева+270 кустов, это не общий состав 1 345. Оценка не гарантирует приживаемость и не является измеренным охлаждением.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C:\Users\User\Documents\Codex\2026-10-31\https-github-com-foxfordkz-cyber-qadamxpavlodar\work\final-media\captures/growth20-1280.txt</a:t>
            </a:r>
          </a:p>
          <a:p xmlns:a="http://schemas.openxmlformats.org/drawingml/2006/main">
            <a:r>
              <a:t>C:\Users\User\Documents\Codex\2026-10-31\https-github-com-foxfordkz-cyber-qadamxpavlodar\work\final-media\captures/capture-manifest.json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1:55–2:25, Бекзат. Открыть отчёт по ссылке из карточки, сохраняющей параметры:optimal, careYears 3. Сверить сумму 10 825 628 ₸. Раскрыть «Служебная записка(Word)», выбрать только Толстого, скачать Рус, затем Қаз. Язык документа отдельный. На защите показать заранее открытые проверенные файлы. Экспорт не означает утверждение документа акиматом.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C:\Users\User\Documents\Codex\2026-10-31\https-github-com-foxfordkz-cyber-qadamxpavlodar\work\final-media\captures/memo-ru-panel.png</a:t>
            </a:r>
          </a:p>
          <a:p xmlns:a="http://schemas.openxmlformats.org/drawingml/2006/main">
            <a:r>
              <a:t>C:\Users\User\Documents\Codex\2026-10-31\https-github-com-foxfordkz-cyber-qadamxpavlodar\work\final-media\captures/memo-kk-panel.png</a:t>
            </a:r>
          </a:p>
          <a:p xmlns:a="http://schemas.openxmlformats.org/drawingml/2006/main">
            <a:r>
              <a:t>C:/Users/User/Documents/Codex/2026-10-31/https-github-com-foxfordkz-cyber-qadamxpavlodar/outputs/defense-final/documents/green-pavlodar-memo-ru-a66d542.docx</a:t>
            </a:r>
          </a:p>
          <a:p xmlns:a="http://schemas.openxmlformats.org/drawingml/2006/main">
            <a:r>
              <a:t>C:/Users/User/Documents/Codex/2026-10-31/https-github-com-foxfordkz-cyber-qadamxpavlodar/outputs/defense-final/documents/green-pavlodar-memo-kk-a66d542.docx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2:25–2:55, Танирберди. Показать Смена/Журнал/Профиль при 1280 и 375 CSSpx, реальный клавиатурный фокус. Это адаптивное веб-приложение. Mock-кабинет и основной mock имеют отдельные учебные хранилища, поэтому показ не доказывает выполнение этой конкретной посадки. Внутренний интерфейс остаётся русским при KK-оболочке. Физический телефон и выпуск native APK не заявляются.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C:\Users\User\Documents\Codex\2026-10-31\https-github-com-foxfordkz-cyber-qadamxpavlodar\work\final-media\captures/worker-1280.png</a:t>
            </a:r>
          </a:p>
          <a:p xmlns:a="http://schemas.openxmlformats.org/drawingml/2006/main">
            <a:r>
              <a:t>C:\Users\User\Documents\Codex\2026-10-31\https-github-com-foxfordkz-cyber-qadamxpavlodar\work\final-media\captures/worker-375.png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2:55–3:25, Айдана. Лаборатория:50 млн₸, balanced, обычный полив, careYears 3, вода 1000 м³. Сокращение 50% даёт 500 м³ и дефицит 493,1 м³ у прежнего состава. Нажать «Перестроить под новый лимит воды». Первая стратегия:41→31 зона,301→160 высаживаемых деревьев,993,1→498,1 м³/сезон, стоимость 45 306 446→22 743 049 ₸, ожидаемые 243→129. Это отдельный многозонный расчёт. Жадный отбор не гарантирует математический оптимум.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C:\Users\User\Documents\Codex\2026-10-31\https-github-com-foxfordkz-cyber-qadamxpavlodar\work\final-media\captures/capture-manifest.json</a:t>
            </a:r>
          </a:p>
          <a:p xmlns:a="http://schemas.openxmlformats.org/drawingml/2006/main">
            <a:r>
              <a:t>C:\Users\User\Documents\Codex\2026-10-31\https-github-com-foxfordkz-cyber-qadamxpavlodar\work\final-media\captures/lab-rebuilt.png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пакет, 31.10.2026. Рабочий тайминг 5 минут, регламент организатора неизвестен. Версия кода пакета закреплена, независимая приёмка не заявляется. База a66d542c63c527d608400c84b34d49f982855369. Source=mock.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3:25–4:35, Айдана. Outcomes: Толстого, только деревья, стоимость за 3 года. Сначала экономический выбор: Эконом 3 854 660 ₸,25,2 ожидаемого дерева,152 962,70 ₸/ожидаемое дерево; на слайде округлено до 152 963 ₸. Сохранить прогноз и показать сохранённый снимок. Полный учебный осмотр 15.10.2026:32 всего,27 живы,5 погибли,84,4%, исходный прогноз 83%за 1 год,+1,4 п.п. Затем частичный осмотр:16 из 32 осмотрены,15 состояний известны,13 живы,2 погибли,17 неизвестно включая 16 неосмотренных. Показатель всей партии и сравнение не рассчитываются. Неизвестные не погибшие. История не форма нового осмотра. Модель обучена на синтетике, не калибрована на Павлодаре. 4:35–4:50 Дамир: для пилота нужны данные, утверждённые нормы, обследования и права доступа. 4:50–5:00 резерв. Регламент и независимое согласование команды не заявляются.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C:\Users\User\Documents\Codex\2026-10-31\https-github-com-foxfordkz-cyber-qadamxpavlodar\work\final-media\captures/outcomes-full.txt</a:t>
            </a:r>
          </a:p>
          <a:p xmlns:a="http://schemas.openxmlformats.org/drawingml/2006/main">
            <a:r>
              <a:t>C:\Users\User\Documents\Codex\2026-10-31\https-github-com-foxfordkz-cyber-qadamxpavlodar\work\final-media\captures/outcomes-partial.txt</a:t>
            </a:r>
          </a:p>
          <a:p xmlns:a="http://schemas.openxmlformats.org/drawingml/2006/main">
            <a:r>
              <a:t>Отдельное согласование Айданой не заявляется. Фактические UI-кадры и входы закреплены в manifest этого пакета.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4b8084edd43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be34830c144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9f5df9bff4d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9ad1214ea44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1b8ecd00a4a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0004eac7644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940371-A998-4BEB-84F7-BB3C902E4A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E77D32-2C52-4B7E-99E1-F98F016E59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E873E1-B803-46BC-BE05-A78AEE2B5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5C2446-4B15-4623-B59D-7B4925AD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7378A8-F50F-4A79-946C-FC013C0275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B79DF9-97DF-4CFD-9571-3E7306DED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9F61AD-7BC8-49AC-9968-56FBC6719A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592DFA-59E0-4DDC-8EDE-06997B6416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DE0E1E-FA9D-49C5-9A0D-B55414288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5DE7EE-F8AB-4FC6-B95A-BBE66F2A6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9789361304c28" /><Relationship Type="http://schemas.openxmlformats.org/officeDocument/2006/relationships/slideLayout" Target="/ppt/slideLayouts/slideLayout1.xml" Id="R55fc0e0f70ab4881" /><Relationship Type="http://schemas.openxmlformats.org/officeDocument/2006/relationships/slideLayout" Target="/ppt/slideLayouts/slideLayout2.xml" Id="Rdc7a77c0246745ba" /><Relationship Type="http://schemas.openxmlformats.org/officeDocument/2006/relationships/slideLayout" Target="/ppt/slideLayouts/slideLayout3.xml" Id="Rb7ed0e66b5184e9e" /><Relationship Type="http://schemas.openxmlformats.org/officeDocument/2006/relationships/slideLayout" Target="/ppt/slideLayouts/slideLayout4.xml" Id="Rc1117fb1cd9d4c92" /><Relationship Type="http://schemas.openxmlformats.org/officeDocument/2006/relationships/slideLayout" Target="/ppt/slideLayouts/slideLayout5.xml" Id="R58e0318ad6e44f28" /><Relationship Type="http://schemas.openxmlformats.org/officeDocument/2006/relationships/slideLayout" Target="/ppt/slideLayouts/slideLayout6.xml" Id="R555498d1ec94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c0e0f70ab4881"/>
    <p:sldLayoutId xmlns:r="http://schemas.openxmlformats.org/officeDocument/2006/relationships" id="2147483650" r:id="Rdc7a77c0246745ba"/>
    <p:sldLayoutId xmlns:r="http://schemas.openxmlformats.org/officeDocument/2006/relationships" id="2147483651" r:id="Rb7ed0e66b5184e9e"/>
    <p:sldLayoutId xmlns:r="http://schemas.openxmlformats.org/officeDocument/2006/relationships" id="2147483652" r:id="Rc1117fb1cd9d4c92"/>
    <p:sldLayoutId xmlns:r="http://schemas.openxmlformats.org/officeDocument/2006/relationships" id="2147483653" r:id="R58e0318ad6e44f28"/>
    <p:sldLayoutId xmlns:r="http://schemas.openxmlformats.org/officeDocument/2006/relationships" id="2147483654" r:id="R555498d1ec94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4402d4016420e" /><Relationship Type="http://schemas.openxmlformats.org/officeDocument/2006/relationships/notesSlide" Target="/ppt/notesSlides/notesSlide1.xml" Id="R23b1e5b7ddf7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6f78d54444e95" /><Relationship Type="http://schemas.openxmlformats.org/officeDocument/2006/relationships/image" Target="/ppt/media/image.png" Id="R7a16eb491b0a4452" /><Relationship Type="http://schemas.openxmlformats.org/officeDocument/2006/relationships/notesSlide" Target="/ppt/notesSlides/notesSlide2.xml" Id="R8f2d189904d2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c5e94b0024391" /><Relationship Type="http://schemas.openxmlformats.org/officeDocument/2006/relationships/image" Target="/ppt/media/image2.png" Id="Rd9c85f8a03484098" /><Relationship Type="http://schemas.openxmlformats.org/officeDocument/2006/relationships/notesSlide" Target="/ppt/notesSlides/notesSlide3.xml" Id="Rc8a5f3b138b44c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2e606c3144f90" /><Relationship Type="http://schemas.openxmlformats.org/officeDocument/2006/relationships/image" Target="/ppt/media/image3.png" Id="R54976f5ebb664361" /><Relationship Type="http://schemas.openxmlformats.org/officeDocument/2006/relationships/notesSlide" Target="/ppt/notesSlides/notesSlide4.xml" Id="Ra262fccc85f94c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d09d5610e4525" /><Relationship Type="http://schemas.openxmlformats.org/officeDocument/2006/relationships/image" Target="/ppt/media/image4.png" Id="R2bc579b8e77647e2" /><Relationship Type="http://schemas.openxmlformats.org/officeDocument/2006/relationships/notesSlide" Target="/ppt/notesSlides/notesSlide5.xml" Id="R04f15d95d61e4e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24e0523984561" /><Relationship Type="http://schemas.openxmlformats.org/officeDocument/2006/relationships/image" Target="/ppt/media/image5.png" Id="Rea980f503dcb44a9" /><Relationship Type="http://schemas.openxmlformats.org/officeDocument/2006/relationships/image" Target="/ppt/media/image6.png" Id="R370ba513daf741ce" /><Relationship Type="http://schemas.openxmlformats.org/officeDocument/2006/relationships/notesSlide" Target="/ppt/notesSlides/notesSlide6.xml" Id="Rd8b9d433da6d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563ebde5247f7" /><Relationship Type="http://schemas.openxmlformats.org/officeDocument/2006/relationships/image" Target="/ppt/media/image7.png" Id="R2e7a363dc914408c" /><Relationship Type="http://schemas.openxmlformats.org/officeDocument/2006/relationships/image" Target="/ppt/media/image8.png" Id="R12318ee5bf6c4882" /><Relationship Type="http://schemas.openxmlformats.org/officeDocument/2006/relationships/notesSlide" Target="/ppt/notesSlides/notesSlide7.xml" Id="R813100737ab243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28ab77c4e47b6" /><Relationship Type="http://schemas.openxmlformats.org/officeDocument/2006/relationships/image" Target="/ppt/media/image9.png" Id="Rcf1470474f814af6" /><Relationship Type="http://schemas.openxmlformats.org/officeDocument/2006/relationships/notesSlide" Target="/ppt/notesSlides/notesSlide8.xml" Id="R1a56e8993ed94c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8b5943922429d" /><Relationship Type="http://schemas.openxmlformats.org/officeDocument/2006/relationships/image" Target="/ppt/media/image10.png" Id="R93a8afd967a743cf" /><Relationship Type="http://schemas.openxmlformats.org/officeDocument/2006/relationships/notesSlide" Target="/ppt/notesSlides/notesSlide9.xml" Id="R3a64faecc95b43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reen Pavlodar">
            <a:extLst xmlns:a="http://schemas.openxmlformats.org/drawingml/2006/main">
              <a:ext uri="{FF2B5EF4-FFF2-40B4-BE49-F238E27FC236}">
                <a16:creationId xmlns:a16="http://schemas.microsoft.com/office/drawing/2014/main" id="{A03419A6-8F34-47A3-B635-DD2B212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333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 Pavlodar</a:t>
            </a:r>
          </a:p>
        </p:txBody>
      </p:sp>
      <p:sp>
        <p:nvSpPr>
          <p:cNvPr id="2" name="Планирование озеленения&#10;на примере участка в ">
            <a:extLst xmlns:a="http://schemas.openxmlformats.org/drawingml/2006/main">
              <a:ext uri="{FF2B5EF4-FFF2-40B4-BE49-F238E27FC236}">
                <a16:creationId xmlns:a16="http://schemas.microsoft.com/office/drawing/2014/main" id="{CD242D8F-73FC-4125-BF43-0AFBE46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Планирование озеленения</a:t>
            </a:r>
          </a:p>
          <a:p xmlns:a="http://schemas.openxmlformats.org/drawingml/2006/main">
            <a:pPr>
              <a:defRPr sz="33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на примере участка в Павлодаре</a:t>
            </a:r>
          </a:p>
        </p:txBody>
      </p:sp>
      <p:sp>
        <p:nvSpPr>
          <p:cNvPr id="3" name="Дамир   Бекзат   Айдана   Танирберди">
            <a:extLst xmlns:a="http://schemas.openxmlformats.org/drawingml/2006/main">
              <a:ext uri="{FF2B5EF4-FFF2-40B4-BE49-F238E27FC236}">
                <a16:creationId xmlns:a16="http://schemas.microsoft.com/office/drawing/2014/main" id="{FB5CE609-464A-4BA7-A701-B344E2E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304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Дамир   Бекзат   Айдана   Танирберди</a:t>
            </a:r>
          </a:p>
        </p:txBody>
      </p:sp>
      <p:sp>
        <p:nvSpPr>
          <p:cNvPr id="4" name="Демонстрация · 31.10.2026">
            <a:extLst xmlns:a="http://schemas.openxmlformats.org/drawingml/2006/main">
              <a:ext uri="{FF2B5EF4-FFF2-40B4-BE49-F238E27FC236}">
                <a16:creationId xmlns:a16="http://schemas.microsoft.com/office/drawing/2014/main" id="{D6B094C0-515C-4C0C-9FDA-55C15267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10375"/>
            <a:ext cx="1285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Демонстрация · 31.10.2026</a:t>
            </a:r>
          </a:p>
        </p:txBody>
      </p:sp>
      <p:sp>
        <p:nvSpPr>
          <p:cNvPr id="5" name="a66d542 · mock · расчётные оценки и демонстра">
            <a:extLst xmlns:a="http://schemas.openxmlformats.org/drawingml/2006/main">
              <a:ext uri="{FF2B5EF4-FFF2-40B4-BE49-F238E27FC236}">
                <a16:creationId xmlns:a16="http://schemas.microsoft.com/office/drawing/2014/main" id="{08C277D4-BECF-4138-ADA4-FFD74D7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41045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7EC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ECDD"/>
                </a:solidFill>
                <a:latin typeface="Arial"/>
                <a:ea typeface="Arial"/>
                <a:cs typeface="Arial"/>
              </a:rPr>
              <a:t>a66d542 · mock · расчётные оценки и демонстрационная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128883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Участок на улице Толстого">
            <a:extLst xmlns:a="http://schemas.openxmlformats.org/drawingml/2006/main">
              <a:ext uri="{FF2B5EF4-FFF2-40B4-BE49-F238E27FC236}">
                <a16:creationId xmlns:a16="http://schemas.microsoft.com/office/drawing/2014/main" id="{8FCDF15D-D54D-4AE2-8941-DDC7B2F7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Участок на улице Толстого</a:t>
            </a:r>
          </a:p>
        </p:txBody>
      </p:sp>
      <p:sp>
        <p:nvSpPr>
          <p:cNvPr id="2" name="Демонстрация · a66d542 · mock · 2/9">
            <a:extLst xmlns:a="http://schemas.openxmlformats.org/drawingml/2006/main">
              <a:ext uri="{FF2B5EF4-FFF2-40B4-BE49-F238E27FC236}">
                <a16:creationId xmlns:a16="http://schemas.microsoft.com/office/drawing/2014/main" id="{6F9B9248-14DC-48B7-BBE1-9CC43CAD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2/9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8C249-B6D2-440C-9559-82146D5ED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eb491b0a4452"/>
          <a:srcRect xmlns:a="http://schemas.openxmlformats.org/drawingml/2006/main" l="0" t="13000" r="36000" b="2000"/>
          <a:stretch xmlns:a="http://schemas.openxmlformats.org/drawingml/2006/main"/>
        </p:blipFill>
        <p:spPr>
          <a:xfrm xmlns:a="http://schemas.openxmlformats.org/drawingml/2006/main">
            <a:off x="523875" y="1495425"/>
            <a:ext cx="8096250" cy="6334125"/>
          </a:xfrm>
          <a:prstGeom xmlns:a="http://schemas.openxmlformats.org/drawingml/2006/main" prst="rect">
            <a:avLst/>
          </a:prstGeom>
        </p:spPr>
      </p:pic>
      <p:sp>
        <p:nvSpPr>
          <p:cNvPr id="4" name="3 782 м²">
            <a:extLst xmlns:a="http://schemas.openxmlformats.org/drawingml/2006/main">
              <a:ext uri="{FF2B5EF4-FFF2-40B4-BE49-F238E27FC236}">
                <a16:creationId xmlns:a16="http://schemas.microsoft.com/office/drawing/2014/main" id="{E0EDB1FF-057E-486A-B2D2-F5386AA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3 782 м²</a:t>
            </a:r>
          </a:p>
        </p:txBody>
      </p:sp>
      <p:sp>
        <p:nvSpPr>
          <p:cNvPr id="5" name="Контур участка из OpenStreetMap">
            <a:extLst xmlns:a="http://schemas.openxmlformats.org/drawingml/2006/main">
              <a:ext uri="{FF2B5EF4-FFF2-40B4-BE49-F238E27FC236}">
                <a16:creationId xmlns:a16="http://schemas.microsoft.com/office/drawing/2014/main" id="{0F7283CC-5C4D-4234-9A95-C88C3D32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Контур участка из OpenStreetMap</a:t>
            </a:r>
          </a:p>
        </p:txBody>
      </p:sp>
      <p:sp>
        <p:nvSpPr>
          <p:cNvPr id="6" name="Демонстрационный пример&#10;рядом с жильём и соци">
            <a:extLst xmlns:a="http://schemas.openxmlformats.org/drawingml/2006/main">
              <a:ext uri="{FF2B5EF4-FFF2-40B4-BE49-F238E27FC236}">
                <a16:creationId xmlns:a16="http://schemas.microsoft.com/office/drawing/2014/main" id="{18A4460A-86A7-4ED9-831D-48C6707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Демонстрационный пример</a:t>
            </a:r>
          </a:p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рядом с жильём и социальными объектами</a:t>
            </a:r>
          </a:p>
        </p:txBody>
      </p:sp>
      <p:sp>
        <p:nvSpPr>
          <p:cNvPr id="7" name="Осмотр и разрешение на посадку&#10;подтверждает ч">
            <a:extLst xmlns:a="http://schemas.openxmlformats.org/drawingml/2006/main">
              <a:ext uri="{FF2B5EF4-FFF2-40B4-BE49-F238E27FC236}">
                <a16:creationId xmlns:a16="http://schemas.microsoft.com/office/drawing/2014/main" id="{DA25CFFB-93A1-489C-AC67-3333257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Осмотр и разрешение на посадку</a:t>
            </a:r>
          </a:p>
          <a:p xmlns:a="http://schemas.openxmlformats.org/drawingml/2006/main">
            <a:pPr>
              <a:defRPr sz="24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подтверждает человек</a:t>
            </a:r>
          </a:p>
        </p:txBody>
      </p:sp>
      <p:sp>
        <p:nvSpPr>
          <p:cNvPr id="8" name="site-osm-1569993037">
            <a:extLst xmlns:a="http://schemas.openxmlformats.org/drawingml/2006/main">
              <a:ext uri="{FF2B5EF4-FFF2-40B4-BE49-F238E27FC236}">
                <a16:creationId xmlns:a16="http://schemas.microsoft.com/office/drawing/2014/main" id="{2C2C1137-F964-496F-86DB-8FB7E67B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23900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site-osm-1569993037</a:t>
            </a:r>
          </a:p>
        </p:txBody>
      </p:sp>
    </p:spTree>
    <p:extLst>
      <p:ext uri="{BB962C8B-B14F-4D97-AF65-F5344CB8AC3E}">
        <p14:creationId xmlns:p14="http://schemas.microsoft.com/office/powerpoint/2010/main" val="732217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дбор растений и 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F5875694-DBA2-4D93-BFA8-2CCC7B4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Подбор растений и ограничения</a:t>
            </a:r>
          </a:p>
        </p:txBody>
      </p:sp>
      <p:sp>
        <p:nvSpPr>
          <p:cNvPr id="2" name="Демонстрация · a66d542 · mock · 3/9">
            <a:extLst xmlns:a="http://schemas.openxmlformats.org/drawingml/2006/main">
              <a:ext uri="{FF2B5EF4-FFF2-40B4-BE49-F238E27FC236}">
                <a16:creationId xmlns:a16="http://schemas.microsoft.com/office/drawing/2014/main" id="{1BDFD370-C6B4-47C4-8A22-A34418D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3/9</a:t>
            </a:r>
          </a:p>
        </p:txBody>
      </p:sp>
      <p:sp>
        <p:nvSpPr>
          <p:cNvPr id="3" name="1 345 растений">
            <a:extLst xmlns:a="http://schemas.openxmlformats.org/drawingml/2006/main">
              <a:ext uri="{FF2B5EF4-FFF2-40B4-BE49-F238E27FC236}">
                <a16:creationId xmlns:a16="http://schemas.microsoft.com/office/drawing/2014/main" id="{1764FEBF-88A5-4B61-91E5-E434EB1A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1 345 растений</a:t>
            </a:r>
          </a:p>
        </p:txBody>
      </p:sp>
      <p:sp>
        <p:nvSpPr>
          <p:cNvPr id="4" name="54 дерева&#10;270 кустарников&#10;1 021 цветок">
            <a:extLst xmlns:a="http://schemas.openxmlformats.org/drawingml/2006/main">
              <a:ext uri="{FF2B5EF4-FFF2-40B4-BE49-F238E27FC236}">
                <a16:creationId xmlns:a16="http://schemas.microsoft.com/office/drawing/2014/main" id="{F51FD151-0294-4870-A008-93719F9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54 дерева</a:t>
            </a:r>
          </a:p>
          <a:p xmlns:a="http://schemas.openxmlformats.org/drawingml/2006/main">
            <a: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270 кустарников</a:t>
            </a:r>
          </a:p>
          <a:p xmlns:a="http://schemas.openxmlformats.org/drawingml/2006/main">
            <a:pPr>
              <a:defRPr sz="300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1 021 цветок</a:t>
            </a:r>
          </a:p>
        </p:txBody>
      </p:sp>
      <p:sp>
        <p:nvSpPr>
          <p:cNvPr id="5" name="«Оптимальный»&#10;Сквер · все ярусы&#10;Доля вида в я">
            <a:extLst xmlns:a="http://schemas.openxmlformats.org/drawingml/2006/main">
              <a:ext uri="{FF2B5EF4-FFF2-40B4-BE49-F238E27FC236}">
                <a16:creationId xmlns:a16="http://schemas.microsoft.com/office/drawing/2014/main" id="{F58A7094-016A-46E0-B335-B95BF0F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«Оптимальный»</a:t>
            </a:r>
          </a:p>
          <a:p xmlns:a="http://schemas.openxmlformats.org/drawingml/2006/main">
            <a: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Сквер · все ярусы</a:t>
            </a:r>
          </a:p>
          <a:p xmlns:a="http://schemas.openxmlformats.org/drawingml/2006/main">
            <a:pPr>
              <a:defRPr sz="22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Доля вида в ярусе до 30%</a:t>
            </a:r>
          </a:p>
        </p:txBody>
      </p:sp>
      <p:sp>
        <p:nvSpPr>
          <p:cNvPr id="6" name="Почва синтетическая: pH 8,6, сильное засолени">
            <a:extLst xmlns:a="http://schemas.openxmlformats.org/drawingml/2006/main">
              <a:ext uri="{FF2B5EF4-FFF2-40B4-BE49-F238E27FC236}">
                <a16:creationId xmlns:a16="http://schemas.microsoft.com/office/drawing/2014/main" id="{91BD1C30-4C2E-4A62-9F54-B7E75ADE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Почва синтетическая: pH 8,6, сильное засоление. Нужен осмотр.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0D7AB-4CFE-44E1-9A5F-E1078F63A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85f8a03484098"/>
          <a:srcRect xmlns:a="http://schemas.openxmlformats.org/drawingml/2006/main" l="0" t="0" r="53500" b="55400"/>
          <a:stretch xmlns:a="http://schemas.openxmlformats.org/drawingml/2006/main"/>
        </p:blipFill>
        <p:spPr>
          <a:xfrm xmlns:a="http://schemas.openxmlformats.org/drawingml/2006/main">
            <a:off x="6000750" y="3171825"/>
            <a:ext cx="85725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29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мета участка: уход на 3 года">
            <a:extLst xmlns:a="http://schemas.openxmlformats.org/drawingml/2006/main">
              <a:ext uri="{FF2B5EF4-FFF2-40B4-BE49-F238E27FC236}">
                <a16:creationId xmlns:a16="http://schemas.microsoft.com/office/drawing/2014/main" id="{A0FCFECA-DC8C-4087-82B6-87A74EE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Смета участка: уход на 3 года</a:t>
            </a:r>
          </a:p>
        </p:txBody>
      </p:sp>
      <p:sp>
        <p:nvSpPr>
          <p:cNvPr id="2" name="Демонстрация · a66d542 · mock · 4/9">
            <a:extLst xmlns:a="http://schemas.openxmlformats.org/drawingml/2006/main">
              <a:ext uri="{FF2B5EF4-FFF2-40B4-BE49-F238E27FC236}">
                <a16:creationId xmlns:a16="http://schemas.microsoft.com/office/drawing/2014/main" id="{BD120DE6-B276-4D67-A6E6-BD623001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4/9</a:t>
            </a:r>
          </a:p>
        </p:txBody>
      </p:sp>
      <p:sp>
        <p:nvSpPr>
          <p:cNvPr id="3" name="10 825 628 ₸">
            <a:extLst xmlns:a="http://schemas.openxmlformats.org/drawingml/2006/main">
              <a:ext uri="{FF2B5EF4-FFF2-40B4-BE49-F238E27FC236}">
                <a16:creationId xmlns:a16="http://schemas.microsoft.com/office/drawing/2014/main" id="{678446B7-AB5C-4CA3-BE51-69D1C5F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10 825 628 ₸</a:t>
            </a:r>
          </a:p>
        </p:txBody>
      </p:sp>
      <p:sp>
        <p:nvSpPr>
          <p:cNvPr id="4" name="«Оптимальный» · сквер · все ярусы">
            <a:extLst xmlns:a="http://schemas.openxmlformats.org/drawingml/2006/main">
              <a:ext uri="{FF2B5EF4-FFF2-40B4-BE49-F238E27FC236}">
                <a16:creationId xmlns:a16="http://schemas.microsoft.com/office/drawing/2014/main" id="{53494A5E-5510-4F79-899E-3877AEC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«Оптимальный» · сквер · все ярусы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CBC5F-6494-4A73-B102-E55961C865B1}"/>
              </a:ext>
            </a:extLst>
          </p:cNvPr>
          <p:cNvGraphicFramePr/>
          <p:nvPr/>
        </p:nvGraphicFramePr>
        <p:xfrm>
          <a:off xmlns:a="http://schemas.openxmlformats.org/drawingml/2006/main" x="714375" y="323850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2428875"/>
              </a:tblGrid>
              <a:tr h="419100"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Статья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T w="9525">
                      <a:solidFill>
                        <a:srgbClr val="D4DED1"/>
                      </a:solidFill>
                      <a:prstDash val="solid"/>
                    </a:lnT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164D3A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Сумма, 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T w="9525">
                      <a:solidFill>
                        <a:srgbClr val="D4DED1"/>
                      </a:solidFill>
                      <a:prstDash val="solid"/>
                    </a:lnT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164D3A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Посадочный материал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2 093 100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почвы и участка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4 765 320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Посадка и доставка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1 072 968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Полив и уход, 3 года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2 565 450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Резерв на замену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0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328 790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D1"/>
                      </a:solidFill>
                      <a:prstDash val="solid"/>
                    </a:lnL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E1EADB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025" b="1">
                          <a:solidFill>
                            <a:srgbClr val="18392D"/>
                          </a:solidFill>
                          <a:latin typeface="Arial"/>
                          <a:ea typeface="Arial"/>
                          <a:cs typeface="Arial"/>
                        </a:rPr>
                        <a:t>10 825 628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D1"/>
                      </a:solidFill>
                      <a:prstDash val="solid"/>
                    </a:lnR>
                    <a:lnB w="9525">
                      <a:solidFill>
                        <a:srgbClr val="D4DED1"/>
                      </a:solidFill>
                      <a:prstDash val="solid"/>
                    </a:lnB>
                    <a:solidFill>
                      <a:srgbClr val="E1EADB"/>
                    </a:solidFill>
                  </a:tcPr>
                </a:tc>
              </a:tr>
            </a:tbl>
          </a:graphicData>
        </a:graphic>
      </p:graphicFrame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9A1DB-55FF-4165-B561-0E5E3B8C73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76f5ebb664361"/>
          <a:srcRect xmlns:a="http://schemas.openxmlformats.org/drawingml/2006/main" l="64700" t="41400" r="2000" b="14000"/>
          <a:stretch xmlns:a="http://schemas.openxmlformats.org/drawingml/2006/main"/>
        </p:blipFill>
        <p:spPr>
          <a:xfrm xmlns:a="http://schemas.openxmlformats.org/drawingml/2006/main">
            <a:off x="9191625" y="1571625"/>
            <a:ext cx="5143500" cy="5381625"/>
          </a:xfrm>
          <a:prstGeom xmlns:a="http://schemas.openxmlformats.org/drawingml/2006/main" prst="rect">
            <a:avLst/>
          </a:prstGeom>
        </p:spPr>
      </p:pic>
      <p:sp>
        <p:nvSpPr>
          <p:cNvPr id="7" name="Цены из демо-справочника.&#10;Для проекта нужны д">
            <a:extLst xmlns:a="http://schemas.openxmlformats.org/drawingml/2006/main">
              <a:ext uri="{FF2B5EF4-FFF2-40B4-BE49-F238E27FC236}">
                <a16:creationId xmlns:a16="http://schemas.microsoft.com/office/drawing/2014/main" id="{073A1AF1-E8E3-4DBD-AF75-AF8E532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91375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Цены из демо-справочника.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Для проекта нужны действующие расценки.</a:t>
            </a:r>
          </a:p>
        </p:txBody>
      </p:sp>
    </p:spTree>
    <p:extLst>
      <p:ext uri="{BB962C8B-B14F-4D97-AF65-F5344CB8AC3E}">
        <p14:creationId xmlns:p14="http://schemas.microsoft.com/office/powerpoint/2010/main" val="763596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ост посадок на карте">
            <a:extLst xmlns:a="http://schemas.openxmlformats.org/drawingml/2006/main">
              <a:ext uri="{FF2B5EF4-FFF2-40B4-BE49-F238E27FC236}">
                <a16:creationId xmlns:a16="http://schemas.microsoft.com/office/drawing/2014/main" id="{874AF11F-F90F-4219-A65F-11BAF7F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Рост посадок на карте</a:t>
            </a:r>
          </a:p>
        </p:txBody>
      </p:sp>
      <p:sp>
        <p:nvSpPr>
          <p:cNvPr id="2" name="Демонстрация · a66d542 · mock · 5/9">
            <a:extLst xmlns:a="http://schemas.openxmlformats.org/drawingml/2006/main">
              <a:ext uri="{FF2B5EF4-FFF2-40B4-BE49-F238E27FC236}">
                <a16:creationId xmlns:a16="http://schemas.microsoft.com/office/drawing/2014/main" id="{1892A390-1F5A-4BA1-8A67-B47D5B24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5/9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C25C1-9DA0-4138-998F-7327D281C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79b8e77647e2"/>
          <a:srcRect xmlns:a="http://schemas.openxmlformats.org/drawingml/2006/main" l="500" t="13000" r="36000" b="2000"/>
          <a:stretch xmlns:a="http://schemas.openxmlformats.org/drawingml/2006/main"/>
        </p:blipFill>
        <p:spPr>
          <a:xfrm xmlns:a="http://schemas.openxmlformats.org/drawingml/2006/main">
            <a:off x="523875" y="1495425"/>
            <a:ext cx="8477250" cy="6286500"/>
          </a:xfrm>
          <a:prstGeom xmlns:a="http://schemas.openxmlformats.org/drawingml/2006/main" prst="rect">
            <a:avLst/>
          </a:prstGeom>
        </p:spPr>
      </p:pic>
      <p:sp>
        <p:nvSpPr>
          <p:cNvPr id="4" name="Посадка, 5, 10 и 20 лет">
            <a:extLst xmlns:a="http://schemas.openxmlformats.org/drawingml/2006/main">
              <a:ext uri="{FF2B5EF4-FFF2-40B4-BE49-F238E27FC236}">
                <a16:creationId xmlns:a16="http://schemas.microsoft.com/office/drawing/2014/main" id="{F0DCD727-5A73-4D5B-BB04-D6944CF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Посадка, 5, 10 и 20 лет</a:t>
            </a:r>
          </a:p>
        </p:txBody>
      </p:sp>
      <p:sp>
        <p:nvSpPr>
          <p:cNvPr id="5" name="Через 20 лет:&#10;1 976 м² кроны">
            <a:extLst xmlns:a="http://schemas.openxmlformats.org/drawingml/2006/main">
              <a:ext uri="{FF2B5EF4-FFF2-40B4-BE49-F238E27FC236}">
                <a16:creationId xmlns:a16="http://schemas.microsoft.com/office/drawing/2014/main" id="{CC4164CB-750A-451F-9888-B2FB6CF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Через 20 лет:</a:t>
            </a:r>
          </a:p>
          <a:p xmlns:a="http://schemas.openxmlformats.org/drawingml/2006/main">
            <a:pPr>
              <a:defRPr sz="35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1 976 м² кроны</a:t>
            </a:r>
          </a:p>
        </p:txBody>
      </p:sp>
      <p:sp>
        <p:nvSpPr>
          <p:cNvPr id="6" name="Оценка по справочникам&#10;и прогнозу приживаемос">
            <a:extLst xmlns:a="http://schemas.openxmlformats.org/drawingml/2006/main">
              <a:ext uri="{FF2B5EF4-FFF2-40B4-BE49-F238E27FC236}">
                <a16:creationId xmlns:a16="http://schemas.microsoft.com/office/drawing/2014/main" id="{7A0D2056-4245-43F9-A39E-AD99DCF6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86375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Оценка по справочникам</a:t>
            </a:r>
          </a:p>
          <a:p xmlns:a="http://schemas.openxmlformats.org/drawingml/2006/main">
            <a:pPr>
              <a:defRPr sz="232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и прогнозу приживаемости</a:t>
            </a:r>
          </a:p>
        </p:txBody>
      </p:sp>
      <p:sp>
        <p:nvSpPr>
          <p:cNvPr id="7" name="Условная раскладка.&#10;Точный план требует проек">
            <a:extLst xmlns:a="http://schemas.openxmlformats.org/drawingml/2006/main">
              <a:ext uri="{FF2B5EF4-FFF2-40B4-BE49-F238E27FC236}">
                <a16:creationId xmlns:a16="http://schemas.microsoft.com/office/drawing/2014/main" id="{27471352-C385-49B3-9E30-815593AA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83895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Условная раскладка.</a:t>
            </a:r>
          </a:p>
          <a:p xmlns:a="http://schemas.openxmlformats.org/drawingml/2006/main">
            <a:pPr>
              <a:defRPr sz="217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Точный план требует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023756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лужебная записка на русском и казахском">
            <a:extLst xmlns:a="http://schemas.openxmlformats.org/drawingml/2006/main">
              <a:ext uri="{FF2B5EF4-FFF2-40B4-BE49-F238E27FC236}">
                <a16:creationId xmlns:a16="http://schemas.microsoft.com/office/drawing/2014/main" id="{B469BA1C-24FA-4D30-BB2E-12187A4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Служебная записка на русском и казахском</a:t>
            </a:r>
          </a:p>
        </p:txBody>
      </p:sp>
      <p:sp>
        <p:nvSpPr>
          <p:cNvPr id="2" name="Демонстрация · a66d542 · mock · 6/9">
            <a:extLst xmlns:a="http://schemas.openxmlformats.org/drawingml/2006/main">
              <a:ext uri="{FF2B5EF4-FFF2-40B4-BE49-F238E27FC236}">
                <a16:creationId xmlns:a16="http://schemas.microsoft.com/office/drawing/2014/main" id="{DBBAC339-FE67-40DB-A8F6-E735C902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6/9</a:t>
            </a:r>
          </a:p>
        </p:txBody>
      </p:sp>
      <p:sp>
        <p:nvSpPr>
          <p:cNvPr id="3" name="Один участок и одинаковые параметры расчёта">
            <a:extLst xmlns:a="http://schemas.openxmlformats.org/drawingml/2006/main">
              <a:ext uri="{FF2B5EF4-FFF2-40B4-BE49-F238E27FC236}">
                <a16:creationId xmlns:a16="http://schemas.microsoft.com/office/drawing/2014/main" id="{AE50988D-E691-48D4-8D3E-E8183D14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Один участок и одинаковые параметры расчёта</a:t>
            </a:r>
          </a:p>
        </p:txBody>
      </p:sp>
      <p:sp>
        <p:nvSpPr>
          <p:cNvPr id="4" name="Русский">
            <a:extLst xmlns:a="http://schemas.openxmlformats.org/drawingml/2006/main">
              <a:ext uri="{FF2B5EF4-FFF2-40B4-BE49-F238E27FC236}">
                <a16:creationId xmlns:a16="http://schemas.microsoft.com/office/drawing/2014/main" id="{09A11130-17D3-4EA5-B064-DD08897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Русский</a:t>
            </a:r>
          </a:p>
        </p:txBody>
      </p:sp>
      <p:sp>
        <p:nvSpPr>
          <p:cNvPr id="5" name="Қазақша">
            <a:extLst xmlns:a="http://schemas.openxmlformats.org/drawingml/2006/main">
              <a:ext uri="{FF2B5EF4-FFF2-40B4-BE49-F238E27FC236}">
                <a16:creationId xmlns:a16="http://schemas.microsoft.com/office/drawing/2014/main" id="{375DC7A8-CB39-4553-B7B6-75F7088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Қазақша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1B423-8563-4409-8E7A-A2ADC5C93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80f503dcb44a9"/>
          <a:srcRect xmlns:a="http://schemas.openxmlformats.org/drawingml/2006/main" l="0" t="20000" r="65000" b="0"/>
          <a:stretch xmlns:a="http://schemas.openxmlformats.org/drawingml/2006/main"/>
        </p:blipFill>
        <p:spPr>
          <a:xfrm xmlns:a="http://schemas.openxmlformats.org/drawingml/2006/main">
            <a:off x="714375" y="3095625"/>
            <a:ext cx="6477000" cy="36671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D0C64-6141-4EAB-9413-F19054ACD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a513daf741ce"/>
          <a:srcRect xmlns:a="http://schemas.openxmlformats.org/drawingml/2006/main" l="0" t="20000" r="65000" b="0"/>
          <a:stretch xmlns:a="http://schemas.openxmlformats.org/drawingml/2006/main"/>
        </p:blipFill>
        <p:spPr>
          <a:xfrm xmlns:a="http://schemas.openxmlformats.org/drawingml/2006/main">
            <a:off x="7953375" y="3095625"/>
            <a:ext cx="6477000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Одинаковые входы: «Оптимальный», 3 года ухода">
            <a:extLst xmlns:a="http://schemas.openxmlformats.org/drawingml/2006/main">
              <a:ext uri="{FF2B5EF4-FFF2-40B4-BE49-F238E27FC236}">
                <a16:creationId xmlns:a16="http://schemas.microsoft.com/office/drawing/2014/main" id="{62704BAE-FB88-484A-88F9-79E46E8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Одинаковые входы: «Оптимальный», 3 года ухода, 10 825 628 ₸.</a:t>
            </a:r>
          </a:p>
        </p:txBody>
      </p:sp>
    </p:spTree>
    <p:extLst>
      <p:ext uri="{BB962C8B-B14F-4D97-AF65-F5344CB8AC3E}">
        <p14:creationId xmlns:p14="http://schemas.microsoft.com/office/powerpoint/2010/main" val="848433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Кабинет работника в адаптивном вебе">
            <a:extLst xmlns:a="http://schemas.openxmlformats.org/drawingml/2006/main">
              <a:ext uri="{FF2B5EF4-FFF2-40B4-BE49-F238E27FC236}">
                <a16:creationId xmlns:a16="http://schemas.microsoft.com/office/drawing/2014/main" id="{0CFB4CC0-92C7-4115-BCBD-97ED7BC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Кабинет работника в адаптивном вебе</a:t>
            </a:r>
          </a:p>
        </p:txBody>
      </p:sp>
      <p:sp>
        <p:nvSpPr>
          <p:cNvPr id="2" name="Демонстрация · a66d542 · mock · 7/9">
            <a:extLst xmlns:a="http://schemas.openxmlformats.org/drawingml/2006/main">
              <a:ext uri="{FF2B5EF4-FFF2-40B4-BE49-F238E27FC236}">
                <a16:creationId xmlns:a16="http://schemas.microsoft.com/office/drawing/2014/main" id="{761D63D5-68C3-49E1-B74C-6F19868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7/9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C09DF-927F-4666-9B71-5A8E0E047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a363dc914408c"/>
          <a:srcRect xmlns:a="http://schemas.openxmlformats.org/drawingml/2006/main" l="0" t="9000" r="0" b="8000"/>
          <a:stretch xmlns:a="http://schemas.openxmlformats.org/drawingml/2006/main"/>
        </p:blipFill>
        <p:spPr>
          <a:xfrm xmlns:a="http://schemas.openxmlformats.org/drawingml/2006/main">
            <a:off x="619125" y="1762125"/>
            <a:ext cx="9525000" cy="5857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60652-0357-4C7D-A15A-D05D25B1C6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18ee5bf6c4882"/>
          <a:stretch xmlns:a="http://schemas.openxmlformats.org/drawingml/2006/main"/>
        </p:blipFill>
        <p:spPr>
          <a:xfrm xmlns:a="http://schemas.openxmlformats.org/drawingml/2006/main">
            <a:off x="11360547" y="1762125"/>
            <a:ext cx="2282031" cy="5476875"/>
          </a:xfrm>
          <a:prstGeom xmlns:a="http://schemas.openxmlformats.org/drawingml/2006/main" prst="rect">
            <a:avLst/>
          </a:prstGeom>
        </p:spPr>
      </p:pic>
      <p:sp>
        <p:nvSpPr>
          <p:cNvPr id="5" name="Смена / Журнал / Профиль при 1280 и 375 px">
            <a:extLst xmlns:a="http://schemas.openxmlformats.org/drawingml/2006/main">
              <a:ext uri="{FF2B5EF4-FFF2-40B4-BE49-F238E27FC236}">
                <a16:creationId xmlns:a16="http://schemas.microsoft.com/office/drawing/2014/main" id="{7AF1CAEC-9D6D-4F21-BADA-E225168C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Смена / Журнал / Профиль при 1280 и 375 px</a:t>
            </a:r>
          </a:p>
        </p:txBody>
      </p:sp>
      <p:sp>
        <p:nvSpPr>
          <p:cNvPr id="6" name="Учебные задания. Внутри кабинета русский инте">
            <a:extLst xmlns:a="http://schemas.openxmlformats.org/drawingml/2006/main">
              <a:ext uri="{FF2B5EF4-FFF2-40B4-BE49-F238E27FC236}">
                <a16:creationId xmlns:a16="http://schemas.microsoft.com/office/drawing/2014/main" id="{1A34D207-B959-4F8E-9D1A-28C24E75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Учебные задания. Внутри кабинета русский интерфейс, перевод KK частичный.</a:t>
            </a:r>
          </a:p>
        </p:txBody>
      </p:sp>
    </p:spTree>
    <p:extLst>
      <p:ext uri="{BB962C8B-B14F-4D97-AF65-F5344CB8AC3E}">
        <p14:creationId xmlns:p14="http://schemas.microsoft.com/office/powerpoint/2010/main" val="1947230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Лаборатория: ограничение воды">
            <a:extLst xmlns:a="http://schemas.openxmlformats.org/drawingml/2006/main">
              <a:ext uri="{FF2B5EF4-FFF2-40B4-BE49-F238E27FC236}">
                <a16:creationId xmlns:a16="http://schemas.microsoft.com/office/drawing/2014/main" id="{931882F8-A2D6-4DB3-9C90-ECE91D8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Лаборатория: ограничение воды</a:t>
            </a:r>
          </a:p>
        </p:txBody>
      </p:sp>
      <p:sp>
        <p:nvSpPr>
          <p:cNvPr id="2" name="Демонстрация · a66d542 · mock · 8/9">
            <a:extLst xmlns:a="http://schemas.openxmlformats.org/drawingml/2006/main">
              <a:ext uri="{FF2B5EF4-FFF2-40B4-BE49-F238E27FC236}">
                <a16:creationId xmlns:a16="http://schemas.microsoft.com/office/drawing/2014/main" id="{D01FADDC-8CFD-4BA1-99F0-37283BDF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8/9</a:t>
            </a:r>
          </a:p>
        </p:txBody>
      </p:sp>
      <p:sp>
        <p:nvSpPr>
          <p:cNvPr id="3" name="50 млн ₸ · обычный полив">
            <a:extLst xmlns:a="http://schemas.openxmlformats.org/drawingml/2006/main">
              <a:ext uri="{FF2B5EF4-FFF2-40B4-BE49-F238E27FC236}">
                <a16:creationId xmlns:a16="http://schemas.microsoft.com/office/drawing/2014/main" id="{EDD10105-E97C-4BC9-A75F-3722DD2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00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50 млн ₸ · обычный полив</a:t>
            </a:r>
          </a:p>
        </p:txBody>
      </p:sp>
      <p:sp>
        <p:nvSpPr>
          <p:cNvPr id="4" name="Доступная вода&#10;1 000, затем 500 м³/сезон">
            <a:extLst xmlns:a="http://schemas.openxmlformats.org/drawingml/2006/main">
              <a:ext uri="{FF2B5EF4-FFF2-40B4-BE49-F238E27FC236}">
                <a16:creationId xmlns:a16="http://schemas.microsoft.com/office/drawing/2014/main" id="{33A1DC8F-E6C2-4829-B0A5-C63EAE09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Доступная вода</a:t>
            </a:r>
          </a:p>
          <a:p xmlns:a="http://schemas.openxmlformats.org/drawingml/2006/main">
            <a:pPr>
              <a:defRPr sz="33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1 000, затем 500 м³/сезон</a:t>
            </a:r>
          </a:p>
        </p:txBody>
      </p:sp>
      <p:sp>
        <p:nvSpPr>
          <p:cNvPr id="5" name="После перестроения:&#10;31 зона вместо 41&#10;498,1 м">
            <a:extLst xmlns:a="http://schemas.openxmlformats.org/drawingml/2006/main">
              <a:ext uri="{FF2B5EF4-FFF2-40B4-BE49-F238E27FC236}">
                <a16:creationId xmlns:a16="http://schemas.microsoft.com/office/drawing/2014/main" id="{02DE36D6-E6E7-409F-9C1C-7E78BAFE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6096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После перестроения:</a:t>
            </a:r>
          </a:p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31 зона вместо 41</a:t>
            </a:r>
          </a:p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498,1 м³ вместо 993,1</a:t>
            </a:r>
          </a:p>
          <a:p xmlns:a="http://schemas.openxmlformats.org/drawingml/2006/main">
            <a:pPr>
              <a:defRPr sz="2550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Дефицит воды: 0 м³</a:t>
            </a:r>
          </a:p>
        </p:txBody>
      </p:sp>
      <p:sp>
        <p:nvSpPr>
          <p:cNvPr id="6" name="Показатели расчётные.&#10;Жадный отбор не гаранти">
            <a:extLst xmlns:a="http://schemas.openxmlformats.org/drawingml/2006/main">
              <a:ext uri="{FF2B5EF4-FFF2-40B4-BE49-F238E27FC236}">
                <a16:creationId xmlns:a16="http://schemas.microsoft.com/office/drawing/2014/main" id="{EC327C1B-F51E-4E76-8E10-65C4820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Показатели расчётные.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Жадный отбор не гарантирует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математический оптимум.</a:t>
            </a:r>
          </a:p>
        </p:txBody>
      </p:sp>
      <p:sp>
        <p:nvSpPr>
          <p:cNvPr id="7" name="Больше сохранившихся деревьев">
            <a:extLst xmlns:a="http://schemas.openxmlformats.org/drawingml/2006/main">
              <a:ext uri="{FF2B5EF4-FFF2-40B4-BE49-F238E27FC236}">
                <a16:creationId xmlns:a16="http://schemas.microsoft.com/office/drawing/2014/main" id="{A4FB69DC-A9D1-47B4-A6BE-FA23BC2D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Больше сохранившихся деревьев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C9BAA-A98B-4607-8209-C8276A8EE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470474f814af6"/>
          <a:srcRect xmlns:a="http://schemas.openxmlformats.org/drawingml/2006/main" l="0" t="22000" r="0" b="42000"/>
          <a:stretch xmlns:a="http://schemas.openxmlformats.org/drawingml/2006/main"/>
        </p:blipFill>
        <p:spPr>
          <a:xfrm xmlns:a="http://schemas.openxmlformats.org/drawingml/2006/main">
            <a:off x="7429500" y="2143125"/>
            <a:ext cx="6762750" cy="538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35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огноз и факт: полнота осмотра">
            <a:extLst xmlns:a="http://schemas.openxmlformats.org/drawingml/2006/main">
              <a:ext uri="{FF2B5EF4-FFF2-40B4-BE49-F238E27FC236}">
                <a16:creationId xmlns:a16="http://schemas.microsoft.com/office/drawing/2014/main" id="{83A391FD-BA4E-4EDB-8E52-F7C8B9CE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402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8392D"/>
                </a:solidFill>
                <a:latin typeface="Arial"/>
                <a:ea typeface="Arial"/>
                <a:cs typeface="Arial"/>
              </a:rPr>
              <a:t>Прогноз и факт: полнота осмотра</a:t>
            </a:r>
          </a:p>
        </p:txBody>
      </p:sp>
      <p:sp>
        <p:nvSpPr>
          <p:cNvPr id="2" name="Демонстрация · a66d542 · mock · 9/9">
            <a:extLst xmlns:a="http://schemas.openxmlformats.org/drawingml/2006/main">
              <a:ext uri="{FF2B5EF4-FFF2-40B4-BE49-F238E27FC236}">
                <a16:creationId xmlns:a16="http://schemas.microsoft.com/office/drawing/2014/main" id="{8C66028E-8FC7-4679-BBF7-D0EABF14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685F"/>
                </a:solidFill>
                <a:latin typeface="Arial"/>
                <a:ea typeface="Arial"/>
                <a:cs typeface="Arial"/>
              </a:rPr>
              <a:t>Демонстрация · a66d542 · mock · 9/9</a:t>
            </a:r>
          </a:p>
        </p:txBody>
      </p:sp>
      <p:sp>
        <p:nvSpPr>
          <p:cNvPr id="3" name="Демо-история · стоимость только деревьев за 3">
            <a:extLst xmlns:a="http://schemas.openxmlformats.org/drawingml/2006/main">
              <a:ext uri="{FF2B5EF4-FFF2-40B4-BE49-F238E27FC236}">
                <a16:creationId xmlns:a16="http://schemas.microsoft.com/office/drawing/2014/main" id="{DB7F756C-1D28-408B-85C9-BFF692F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Демо-история · стоимость только деревьев за 3 года</a:t>
            </a:r>
          </a:p>
        </p:txBody>
      </p:sp>
      <p:sp>
        <p:nvSpPr>
          <p:cNvPr id="4" name="«Эконом»: 152 963 ₸ за ожидаемо сохранившееся">
            <a:extLst xmlns:a="http://schemas.openxmlformats.org/drawingml/2006/main">
              <a:ext uri="{FF2B5EF4-FFF2-40B4-BE49-F238E27FC236}">
                <a16:creationId xmlns:a16="http://schemas.microsoft.com/office/drawing/2014/main" id="{822CC312-0DB7-48A4-91C4-3517EDCF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«Эконом»: 152 963 ₸ за ожидаемо сохранившееся дерево — оценка</a:t>
            </a:r>
          </a:p>
        </p:txBody>
      </p:sp>
      <p:sp>
        <p:nvSpPr>
          <p:cNvPr id="5" name="Полный осмотр: 84,4% (27 из 32) · прогноз 83%">
            <a:extLst xmlns:a="http://schemas.openxmlformats.org/drawingml/2006/main">
              <a:ext uri="{FF2B5EF4-FFF2-40B4-BE49-F238E27FC236}">
                <a16:creationId xmlns:a16="http://schemas.microsoft.com/office/drawing/2014/main" id="{8A123A37-E475-4D19-8565-C2CD8D56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9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92D"/>
                </a:solidFill>
                <a:latin typeface="Arial"/>
                <a:ea typeface="Arial"/>
                <a:cs typeface="Arial"/>
              </a:rPr>
              <a:t>Полный осмотр: 84,4% (27 из 32) · прогноз 83% за 1 год · +1,4 п.п.</a:t>
            </a:r>
          </a:p>
        </p:txBody>
      </p:sp>
      <p:sp>
        <p:nvSpPr>
          <p:cNvPr id="6" name="Частичный осмотр: неизвестные состояния не сч">
            <a:extLst xmlns:a="http://schemas.openxmlformats.org/drawingml/2006/main">
              <a:ext uri="{FF2B5EF4-FFF2-40B4-BE49-F238E27FC236}">
                <a16:creationId xmlns:a16="http://schemas.microsoft.com/office/drawing/2014/main" id="{76A9C4AA-5AB1-4AB2-9A29-0C44F2C1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390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72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7250"/>
                </a:solidFill>
                <a:latin typeface="Arial"/>
                <a:ea typeface="Arial"/>
                <a:cs typeface="Arial"/>
              </a:rPr>
              <a:t>Частичный осмотр: неизвестные состояния не считаются погибшими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FA6E8-ECB6-4C5A-96C4-BCF30A6E4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8afd967a743cf"/>
          <a:srcRect xmlns:a="http://schemas.openxmlformats.org/drawingml/2006/main" l="0" t="18000" r="0" b="14000"/>
          <a:stretch xmlns:a="http://schemas.openxmlformats.org/drawingml/2006/main"/>
        </p:blipFill>
        <p:spPr>
          <a:xfrm xmlns:a="http://schemas.openxmlformats.org/drawingml/2006/main">
            <a:off x="666750" y="3600450"/>
            <a:ext cx="13906500" cy="3448050"/>
          </a:xfrm>
          <a:prstGeom xmlns:a="http://schemas.openxmlformats.org/drawingml/2006/main" prst="rect">
            <a:avLst/>
          </a:prstGeom>
        </p:spPr>
      </p:pic>
      <p:sp>
        <p:nvSpPr>
          <p:cNvPr id="8" name="Синтетическая модель. Вымышленная история и +">
            <a:extLst xmlns:a="http://schemas.openxmlformats.org/drawingml/2006/main">
              <a:ext uri="{FF2B5EF4-FFF2-40B4-BE49-F238E27FC236}">
                <a16:creationId xmlns:a16="http://schemas.microsoft.com/office/drawing/2014/main" id="{D9BEE7C0-8B38-4BCF-A68C-4E99069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Синтетическая модель. Вымышленная история и +1,4 п.п. не доказывают точность.</a:t>
            </a:r>
          </a:p>
          <a:p xmlns:a="http://schemas.openxmlformats.org/drawingml/2006/main">
            <a:pPr>
              <a:defRPr sz="2100" b="0">
                <a:solidFill>
                  <a:srgbClr val="80541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05414"/>
                </a:solidFill>
                <a:latin typeface="Arial"/>
                <a:ea typeface="Arial"/>
                <a:cs typeface="Arial"/>
              </a:rPr>
              <a:t>Для пилота нужны полевые осмотры, нормы и подтверждённые исходные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63204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2026-10-31T00:49:57.5040000Z</dcterms:created>
  <dcterms:modified xsi:type="dcterms:W3CDTF">2026-10-31T00:49:57.5040000Z</dcterms:modified>
</coreProperties>
</file>