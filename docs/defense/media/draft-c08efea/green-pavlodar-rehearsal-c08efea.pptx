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d8d61a3c544b56" /><Relationship Type="http://schemas.openxmlformats.org/officeDocument/2006/relationships/extended-properties" Target="/docProps/app.xml" Id="R0b2bda1850c242d3" /><Relationship Type="http://schemas.openxmlformats.org/officeDocument/2006/relationships/officeDocument" Target="/ppt/presentation.xml" Id="R81d4acf8ae4a44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b49f4b29454b91"/>
  </p:sldMasterIdLst>
  <p:notesMasterIdLst>
    <p:notesMasterId xmlns:r="http://schemas.openxmlformats.org/officeDocument/2006/relationships" r:id="R657dfbf976c14669"/>
  </p:notesMasterIdLst>
  <p:sldIdLst>
    <p:sldId xmlns:r="http://schemas.openxmlformats.org/officeDocument/2006/relationships" id="256" r:id="R2519f68fb548482e"/>
    <p:sldId xmlns:r="http://schemas.openxmlformats.org/officeDocument/2006/relationships" id="257" r:id="R6a2b09d3bda14a02"/>
    <p:sldId xmlns:r="http://schemas.openxmlformats.org/officeDocument/2006/relationships" id="258" r:id="R01fc64163f8548c1"/>
    <p:sldId xmlns:r="http://schemas.openxmlformats.org/officeDocument/2006/relationships" id="259" r:id="R8245921c599d4a24"/>
    <p:sldId xmlns:r="http://schemas.openxmlformats.org/officeDocument/2006/relationships" id="260" r:id="Rc42cbd977ab640d1"/>
    <p:sldId xmlns:r="http://schemas.openxmlformats.org/officeDocument/2006/relationships" id="261" r:id="R9dcf20a153a74fb1"/>
    <p:sldId xmlns:r="http://schemas.openxmlformats.org/officeDocument/2006/relationships" id="262" r:id="R4dc0af23e19540e8"/>
    <p:sldId xmlns:r="http://schemas.openxmlformats.org/officeDocument/2006/relationships" id="263" r:id="R1f79ed8809ee4e30"/>
    <p:sldId xmlns:r="http://schemas.openxmlformats.org/officeDocument/2006/relationships" id="264" r:id="R6206233da65145e5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10ec8f00924a24" /><Relationship Type="http://schemas.openxmlformats.org/officeDocument/2006/relationships/slideMaster" Target="/ppt/slideMasters/slideMaster1.xml" Id="R0db49f4b29454b91" /><Relationship Type="http://schemas.openxmlformats.org/officeDocument/2006/relationships/notesMaster" Target="/ppt/notesMasters/notesMaster1.xml" Id="R657dfbf976c14669" /><Relationship Type="http://schemas.openxmlformats.org/officeDocument/2006/relationships/presProps" Target="/ppt/presProps.xml" Id="Rcc97a59fd06545b7" /><Relationship Type="http://schemas.openxmlformats.org/officeDocument/2006/relationships/tableStyles" Target="/ppt/tableStyles.xml" Id="R5e108760399e442b" /><Relationship Type="http://schemas.openxmlformats.org/officeDocument/2006/relationships/slide" Target="/ppt/slides/slide1.xml" Id="R2519f68fb548482e" /><Relationship Type="http://schemas.openxmlformats.org/officeDocument/2006/relationships/slide" Target="/ppt/slides/slide2.xml" Id="R6a2b09d3bda14a02" /><Relationship Type="http://schemas.openxmlformats.org/officeDocument/2006/relationships/slide" Target="/ppt/slides/slide3.xml" Id="R01fc64163f8548c1" /><Relationship Type="http://schemas.openxmlformats.org/officeDocument/2006/relationships/slide" Target="/ppt/slides/slide4.xml" Id="R8245921c599d4a24" /><Relationship Type="http://schemas.openxmlformats.org/officeDocument/2006/relationships/slide" Target="/ppt/slides/slide5.xml" Id="Rc42cbd977ab640d1" /><Relationship Type="http://schemas.openxmlformats.org/officeDocument/2006/relationships/slide" Target="/ppt/slides/slide6.xml" Id="R9dcf20a153a74fb1" /><Relationship Type="http://schemas.openxmlformats.org/officeDocument/2006/relationships/slide" Target="/ppt/slides/slide7.xml" Id="R4dc0af23e19540e8" /><Relationship Type="http://schemas.openxmlformats.org/officeDocument/2006/relationships/slide" Target="/ppt/slides/slide8.xml" Id="R1f79ed8809ee4e30" /><Relationship Type="http://schemas.openxmlformats.org/officeDocument/2006/relationships/slide" Target="/ppt/slides/slide9.xml" Id="R6206233da65145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14837b99c845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dac653c6844bdb" /><Relationship Type="http://schemas.openxmlformats.org/officeDocument/2006/relationships/notesMaster" Target="/ppt/notesMasters/notesMaster1.xml" Id="Ra8cb24548e7346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bc9f20d1f247fd" /><Relationship Type="http://schemas.openxmlformats.org/officeDocument/2006/relationships/notesMaster" Target="/ppt/notesMasters/notesMaster1.xml" Id="Rd0d77b64b5ca40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513534c06a4a8b" /><Relationship Type="http://schemas.openxmlformats.org/officeDocument/2006/relationships/notesMaster" Target="/ppt/notesMasters/notesMaster1.xml" Id="Reef908e12fff4b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72959465374619" /><Relationship Type="http://schemas.openxmlformats.org/officeDocument/2006/relationships/notesMaster" Target="/ppt/notesMasters/notesMaster1.xml" Id="R0dd65ce643ef41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061eaf4aea4b1d" /><Relationship Type="http://schemas.openxmlformats.org/officeDocument/2006/relationships/notesMaster" Target="/ppt/notesMasters/notesMaster1.xml" Id="Re131de21ffd74c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970d8491ec4e6e" /><Relationship Type="http://schemas.openxmlformats.org/officeDocument/2006/relationships/notesMaster" Target="/ppt/notesMasters/notesMaster1.xml" Id="R14fa74d7ed2349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2a723c8653453e" /><Relationship Type="http://schemas.openxmlformats.org/officeDocument/2006/relationships/notesMaster" Target="/ppt/notesMasters/notesMaster1.xml" Id="R10a712b27ac643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23bf50d14b43de" /><Relationship Type="http://schemas.openxmlformats.org/officeDocument/2006/relationships/notesMaster" Target="/ppt/notesMasters/notesMaster1.xml" Id="R719f72931a1041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ea60cd94f64747" /><Relationship Type="http://schemas.openxmlformats.org/officeDocument/2006/relationships/notesMaster" Target="/ppt/notesMasters/notesMaster1.xml" Id="R87550e61e5dd46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ЧЕРНОВИК, 31.10.2026, рабочий тайминг 5 минут. Регламент и общий финальный SHA не подтверждены. База c08efea51900e11cdea63944bddb79a078712db5. Source=mock.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0:00–0:20, Дамир. «Показываем прототип поддержки решения по озеленению. Пройдём участок, план посадки и стоимость, затем покажем документ и контроль результата. Это демонстрационные данные». Рабочие 5 минут не являются утверждённым регламентом. Исторические PPTX/PDF 10 страниц и ролики 9:50 / 3:30 недоступны в этом сеансе. Fixture-preview 39,48 с не полный сценарий.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C:/Users/User/Documents/Codex/2026-10-31/https-github-com-foxfordkz-cyber-qadamxpavlodar/outputs/review/screens/capture-manifest.json</a:t>
            </a:r>
          </a:p>
          <a:p xmlns:a="http://schemas.openxmlformats.org/drawingml/2006/main">
            <a:r>
              <a:t>Кадры требуют согласования Айданы перед финальной записью.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ЧЕРНОВИК, 31.10.2026, рабочий тайминг 5 минут. Регламент и общий финальный SHA не подтверждены. База c08efea51900e11cdea63944bddb79a078712db5. Source=mock.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0:20–0:55, Дамир. Открыть карту и карточку Толстого. Этот участок выбран для связного примера, он не объявляется самым приоритетным. Площадь по OSM. В карточке «Реальные данные» относится к OSM, тогда как почва, проверки и история демонстрационные. Приоритет не разрешает посадку. Местоположение OSM не доказывает свободу участка.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C:/Users/User/Documents/Codex/2026-10-31/https-github-com-foxfordkz-cyber-qadamxpavlodar/outputs/review/screens/01-tolstogo-overview-1280.txt</a:t>
            </a:r>
          </a:p>
          <a:p xmlns:a="http://schemas.openxmlformats.org/drawingml/2006/main">
            <a:r>
              <a:t>Кадры требуют согласования Айданы перед финальной записью.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ЧЕРНОВИК, 31.10.2026, рабочий тайминг 5 минут. Регламент и общий финальный SHA не подтверждены. База c08efea51900e11cdea63944bddb79a078712db5. Source=mock.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0:55–1:30, Бекзат. Показать вклад факторов и ограничения. Входы: сквер, optimal, все ярусы, maxShare=0.30, площадь 3782 м². Сначала жёсткие ограничения, затем рейтинг. Подходящие здесь виды имеют устойчивость к морозу, засухе и засолению по справочнику. Синтетическая почва не заменяет анализ. Модель 1-го года обучена на синтетике, для следующих лет применено экспертное снижение, к Павлодару модель не калибрована.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C:/Users/User/Documents/Codex/2026-10-31/https-github-com-foxfordkz-cyber-qadamxpavlodar/outputs/review/screens/02-plants-1280.txt</a:t>
            </a:r>
          </a:p>
          <a:p xmlns:a="http://schemas.openxmlformats.org/drawingml/2006/main">
            <a:r>
              <a:t>C:\Users\User\Documents\Codex\2026-10-31\green-pavlodar-defense-media\work\captures/report-plants-focus.png</a:t>
            </a:r>
          </a:p>
          <a:p xmlns:a="http://schemas.openxmlformats.org/drawingml/2006/main">
            <a:r>
              <a:t>Кадры требуют согласования Айданы перед финальной записью.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ЧЕРНОВИК, 31.10.2026, рабочий тайминг 5 минут. Регламент и общий финальный SHA не подтверждены. База c08efea51900e11cdea63944bddb79a078712db5. Source=mock.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1:30–2:05, Бекзат. Входы: site-osm-1569993037, optimal, careYears=2, all layers, square, maxShare=0.30. Не менять срок ухода. Сумма пяти статей 9 970 478 ₸. В Outcomes отдельное сравнение trees-only/3 года, его сумма не равна этой смете. Показать допущения и отсутствующие данные. Формулы и цены в демонстрационном справочнике.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C:/Users/User/Documents/Codex/2026-10-31/https-github-com-foxfordkz-cyber-qadamxpavlodar/outputs/review/screens/03-estimate-1280.txt</a:t>
            </a:r>
          </a:p>
          <a:p xmlns:a="http://schemas.openxmlformats.org/drawingml/2006/main">
            <a:r>
              <a:t>C:\Users\User\Documents\Codex\2026-10-31\green-pavlodar-defense-media\work\captures/estimate-section.txt</a:t>
            </a:r>
          </a:p>
          <a:p xmlns:a="http://schemas.openxmlformats.org/drawingml/2006/main">
            <a:r>
              <a:t>Кадры требуют согласования Айданы перед финальной записью.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ЧЕРНОВИК, 31.10.2026, рабочий тайминг 5 минут. Регламент и общий финальный SHA не подтверждены. База c08efea51900e11cdea63944bddb79a078712db5. Source=mock.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2:05–2:30, Айдана. На вкладке «Эффект» показать посадку и 20 лет. UI рост схематичный, высоты и кроны из справочника. Показано 274 из 324 древесных растений на выбранном горизонте, цветы в этот счёт не входят. 1976 м², 1.72 т CO₂/год и до −0.9 °C являются расчётной оценкой, их не выдавать за измеренный эффект.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C:\Users\User\Documents\Codex\2026-10-31\green-pavlodar-defense-media\work\captures/growth20-viewport.txt</a:t>
            </a:r>
          </a:p>
          <a:p xmlns:a="http://schemas.openxmlformats.org/drawingml/2006/main">
            <a:r>
              <a:t>C:\Users\User\Documents\Codex\2026-10-31\green-pavlodar-defense-media\work\captures/capture-manifest.json</a:t>
            </a:r>
          </a:p>
          <a:p xmlns:a="http://schemas.openxmlformats.org/drawingml/2006/main">
            <a:r>
              <a:t>Кадры требуют согласования Айданы перед финальной записью.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ЧЕРНОВИК, 31.10.2026, рабочий тайминг 5 минут. Регламент и общий финальный SHA не подтверждены. База c08efea51900e11cdea63944bddb79a078712db5. Source=mock.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2:30–3:00, Айдана. Открыть отчёт зоны (optimal, careYears=2), раскрыть «Служебная записка», выбрать Толстого. Нажать язык документа Рус, скачать DOCX, затем Қаз и скачать DOCX. Язык документа выбирается отдельно от языка общей оболочки. Это демонстрация выгрузки документа, не утверждённый документ акимата. Содержимое UI экспорта сохранено в memo-ru-from-ui.docx/memo-kk-from-ui.docx.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C:\Users\User\Documents\Codex\2026-10-31\green-pavlodar-defense-media\work\captures/memo-ru-panel.png</a:t>
            </a:r>
          </a:p>
          <a:p xmlns:a="http://schemas.openxmlformats.org/drawingml/2006/main">
            <a:r>
              <a:t>C:\Users\User\Documents\Codex\2026-10-31\green-pavlodar-defense-media\work\captures/memo-kk-panel.png</a:t>
            </a:r>
          </a:p>
          <a:p xmlns:a="http://schemas.openxmlformats.org/drawingml/2006/main">
            <a:r>
              <a:t>C:\Users\User\Documents\Codex\2026-10-31\green-pavlodar-defense-media\work\captures/memo-ru-from-ui.docx</a:t>
            </a:r>
          </a:p>
          <a:p xmlns:a="http://schemas.openxmlformats.org/drawingml/2006/main">
            <a:r>
              <a:t>C:\Users\User\Documents\Codex\2026-10-31\green-pavlodar-defense-media\work\captures/memo-kk-from-ui.docx</a:t>
            </a:r>
          </a:p>
          <a:p xmlns:a="http://schemas.openxmlformats.org/drawingml/2006/main">
            <a:r>
              <a:t>Кадры требуют согласования Айданы перед финальной записью.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ЧЕРНОВИК, 31.10.2026, рабочий тайминг 5 минут. Регламент и общий финальный SHA не подтверждены. База c08efea51900e11cdea63944bddb79a078712db5. Source=mock.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3:00–3:35, Айдана. Входы: 50 млн ₸, balanced, обычный полив, careYears=3. Зафиксировать исходный план при 1600 м³/сезон, снизить до 800, отдельно показать стресс прежнего состава и нажать перестроение. При 1120 м³ изменения состава может не быть, потому что исходный расход ниже 1120. Показываем первую стратегию «Больше сохранившихся деревьев». Стратегии являются эвристиками. Подтвердить финальные значения по capture-manifest перед записью. Проверенный результат первого плана: 43 зоны до, 39 после. Расход 1094,2 и 794,8 м³/сезон. До перестроения дефицит 294,2 м³, после 0. Уход на 3 года, это отдельный городской сценарий.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C:\Users\User\Documents\Codex\2026-10-31\green-pavlodar-defense-media\work\captures/capture-manifest.json</a:t>
            </a:r>
          </a:p>
          <a:p xmlns:a="http://schemas.openxmlformats.org/drawingml/2006/main">
            <a:r>
              <a:t>C:\Users\User\Documents\Codex\2026-10-31\green-pavlodar-defense-media\work\captures/lab50-rebuilt-focus.png</a:t>
            </a:r>
          </a:p>
          <a:p xmlns:a="http://schemas.openxmlformats.org/drawingml/2006/main">
            <a:r>
              <a:t>Кадры требуют согласования Айданы перед финальной записью.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ЧЕРНОВИК, 31.10.2026, рабочий тайминг 5 минут. Регламент и общий финальный SHA не подтверждены. База c08efea51900e11cdea63944bddb79a078712db5. Source=mock.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3:35–4:30, Танирберди. Выбрать Толстого, полный осмотр и 15.10.2026: 32 осмотрено, 27 живых, 5 погибших, 84.4%, прогноз 83% за 1 год, +1.4 п.п. Затем partial: 16 осмотрено из 32, 15 состояние установлено, 13 живых, 2 погибших, 17 неизвестно включая 16 неосмотренных. Приживаемость всей партии «Нет данных», сравнение недоступно. Неизвестные не считаются погибшими. Это исторические данные просмотра, не форма нового осмотра. Не смешивать 3 года расходов со сроком 1 год у сравнения. Синтетическая модель не калибрована на Павлодаре.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C:/Users/User/Documents/Codex/2026-10-31/https-github-com-foxfordkz-cyber-qadamxpavlodar/outputs/review/screens/06-outcomes-comparison-1280.txt</a:t>
            </a:r>
          </a:p>
          <a:p xmlns:a="http://schemas.openxmlformats.org/drawingml/2006/main">
            <a:r>
              <a:t>C:\Users\User\Documents\Codex\2026-10-31\green-pavlodar-defense-media\work\captures/outcomes-partial-findings.txt</a:t>
            </a:r>
          </a:p>
          <a:p xmlns:a="http://schemas.openxmlformats.org/drawingml/2006/main">
            <a:r>
              <a:t>Кадры требуют согласования Айданы перед финальной записью.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ЧЕРНОВИК, 31.10.2026, рабочий тайминг 5 минут. Регламент и общий финальный SHA не подтверждены. База c08efea51900e11cdea63944bddb79a078712db5. Source=mock.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4:30–5:00, Танирберди. Кратко показать кабинет 1280 и 390. Адаптивное веб-приложение, native APK не выпущен. Встроенный кабинет русский внутри общей KK оболочки, standalone kk-draft 15/205 ключей. Не вводить новые данные в этой короткой демонстрации. Финал: прототип помогает подготовить решение с видимыми исходными данными и ограничениями. Публичный URL ждёт Бекзата. Офлайн-резерв: локальные PDF / видео и mock, внешняя карта без интернета не гарантирована. Финальный ролик ещё не записан.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C:\Users\User\Documents\Codex\2026-10-31\green-pavlodar-defense-media\work\captures/worker-1280.png</a:t>
            </a:r>
          </a:p>
          <a:p xmlns:a="http://schemas.openxmlformats.org/drawingml/2006/main">
            <a:r>
              <a:t>C:\Users\User\Documents\Codex\2026-10-31\green-pavlodar-defense-media\work\captures/worker-390.png</a:t>
            </a:r>
          </a:p>
          <a:p xmlns:a="http://schemas.openxmlformats.org/drawingml/2006/main">
            <a:r>
              <a:t>Кадры требуют согласования Айданы перед финальной записью.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379440c90e43b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45218699cf497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45099723a4421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eb0c2fa3c045a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6f1a9a77174f4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be11cd757746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51B031-E42B-4156-B6BB-E4D732443B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939730B-A27E-4A68-B23B-DC54C1D6756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671D841-D3C0-438F-87A9-6B2ADF4B59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34B8509-3F8B-4FD4-858A-E75D0F448C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BB80CC9-5333-4C80-B3BA-2D7C513A55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EC3514E-9520-4AEF-A300-9B744B9D18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5373A37-FF54-4DF3-87C0-2F8F1B8BD5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A180B9B-367E-4383-BD06-51D3EAB71CB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C1B5DD-2367-4C21-9213-7DBE04BF8D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91E4059-FADD-40BF-9B4D-8ABFB0978A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cd451d173548f1" /><Relationship Type="http://schemas.openxmlformats.org/officeDocument/2006/relationships/slideLayout" Target="/ppt/slideLayouts/slideLayout1.xml" Id="R529b21d0a7f94e3f" /><Relationship Type="http://schemas.openxmlformats.org/officeDocument/2006/relationships/slideLayout" Target="/ppt/slideLayouts/slideLayout2.xml" Id="R3f939cb2de904678" /><Relationship Type="http://schemas.openxmlformats.org/officeDocument/2006/relationships/slideLayout" Target="/ppt/slideLayouts/slideLayout3.xml" Id="Rf2245c65c2f64a10" /><Relationship Type="http://schemas.openxmlformats.org/officeDocument/2006/relationships/slideLayout" Target="/ppt/slideLayouts/slideLayout4.xml" Id="R2785cc85e2f24726" /><Relationship Type="http://schemas.openxmlformats.org/officeDocument/2006/relationships/slideLayout" Target="/ppt/slideLayouts/slideLayout5.xml" Id="Re999660fbb4945e6" /><Relationship Type="http://schemas.openxmlformats.org/officeDocument/2006/relationships/slideLayout" Target="/ppt/slideLayouts/slideLayout6.xml" Id="R3ef5b70124e44f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9b21d0a7f94e3f"/>
    <p:sldLayoutId xmlns:r="http://schemas.openxmlformats.org/officeDocument/2006/relationships" id="2147483650" r:id="R3f939cb2de904678"/>
    <p:sldLayoutId xmlns:r="http://schemas.openxmlformats.org/officeDocument/2006/relationships" id="2147483651" r:id="Rf2245c65c2f64a10"/>
    <p:sldLayoutId xmlns:r="http://schemas.openxmlformats.org/officeDocument/2006/relationships" id="2147483652" r:id="R2785cc85e2f24726"/>
    <p:sldLayoutId xmlns:r="http://schemas.openxmlformats.org/officeDocument/2006/relationships" id="2147483653" r:id="Re999660fbb4945e6"/>
    <p:sldLayoutId xmlns:r="http://schemas.openxmlformats.org/officeDocument/2006/relationships" id="2147483654" r:id="R3ef5b70124e44f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04bb524ca44aee" /><Relationship Type="http://schemas.openxmlformats.org/officeDocument/2006/relationships/notesSlide" Target="/ppt/notesSlides/notesSlide1.xml" Id="R4b889446033c42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9861899914428e" /><Relationship Type="http://schemas.openxmlformats.org/officeDocument/2006/relationships/image" Target="/ppt/media/image.png" Id="Rc5de72732c494b45" /><Relationship Type="http://schemas.openxmlformats.org/officeDocument/2006/relationships/notesSlide" Target="/ppt/notesSlides/notesSlide2.xml" Id="Rcc8e3693fc6f42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7899798fa84d38" /><Relationship Type="http://schemas.openxmlformats.org/officeDocument/2006/relationships/image" Target="/ppt/media/image2.png" Id="Ra56b84ccafa94dd4" /><Relationship Type="http://schemas.openxmlformats.org/officeDocument/2006/relationships/notesSlide" Target="/ppt/notesSlides/notesSlide3.xml" Id="Raa4212ee48dc44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b8f2512c5143d7" /><Relationship Type="http://schemas.openxmlformats.org/officeDocument/2006/relationships/image" Target="/ppt/media/image3.png" Id="R35d6f6180d1a4957" /><Relationship Type="http://schemas.openxmlformats.org/officeDocument/2006/relationships/notesSlide" Target="/ppt/notesSlides/notesSlide4.xml" Id="R6820c1ac795c40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842c5954594af6" /><Relationship Type="http://schemas.openxmlformats.org/officeDocument/2006/relationships/image" Target="/ppt/media/image4.png" Id="R528d665197b44c67" /><Relationship Type="http://schemas.openxmlformats.org/officeDocument/2006/relationships/notesSlide" Target="/ppt/notesSlides/notesSlide5.xml" Id="R40768426b8614d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d84ce43ce44272" /><Relationship Type="http://schemas.openxmlformats.org/officeDocument/2006/relationships/image" Target="/ppt/media/image5.png" Id="Ra19e5390ff7e4cf4" /><Relationship Type="http://schemas.openxmlformats.org/officeDocument/2006/relationships/image" Target="/ppt/media/image6.png" Id="Radc4b655266f4d19" /><Relationship Type="http://schemas.openxmlformats.org/officeDocument/2006/relationships/notesSlide" Target="/ppt/notesSlides/notesSlide6.xml" Id="R2910b50c475b42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00f20c09c44524" /><Relationship Type="http://schemas.openxmlformats.org/officeDocument/2006/relationships/image" Target="/ppt/media/image7.png" Id="Rb8f982d587a54b91" /><Relationship Type="http://schemas.openxmlformats.org/officeDocument/2006/relationships/notesSlide" Target="/ppt/notesSlides/notesSlide7.xml" Id="Rf22ab5507f2c40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efca9496e0483c" /><Relationship Type="http://schemas.openxmlformats.org/officeDocument/2006/relationships/image" Target="/ppt/media/image8.png" Id="R669095f3bd134ef7" /><Relationship Type="http://schemas.openxmlformats.org/officeDocument/2006/relationships/notesSlide" Target="/ppt/notesSlides/notesSlide8.xml" Id="R16221d2877bf4f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6842b7993f4740" /><Relationship Type="http://schemas.openxmlformats.org/officeDocument/2006/relationships/image" Target="/ppt/media/image9.png" Id="R88f509e598554442" /><Relationship Type="http://schemas.openxmlformats.org/officeDocument/2006/relationships/image" Target="/ppt/media/image10.png" Id="R958f366d5c064327" /><Relationship Type="http://schemas.openxmlformats.org/officeDocument/2006/relationships/notesSlide" Target="/ppt/notesSlides/notesSlide9.xml" Id="R4b1c2a66e37a4f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4D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reen Pavlodar">
            <a:extLst xmlns:a="http://schemas.openxmlformats.org/drawingml/2006/main">
              <a:ext uri="{FF2B5EF4-FFF2-40B4-BE49-F238E27FC236}">
                <a16:creationId xmlns:a16="http://schemas.microsoft.com/office/drawing/2014/main" id="{09FEFD77-61E2-480A-B84C-1CF42158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3335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Green Pavlodar</a:t>
            </a:r>
          </a:p>
        </p:txBody>
      </p:sp>
      <p:sp>
        <p:nvSpPr>
          <p:cNvPr id="2" name="Планирование озеленения&#10;на примере участка в ">
            <a:extLst xmlns:a="http://schemas.openxmlformats.org/drawingml/2006/main">
              <a:ext uri="{FF2B5EF4-FFF2-40B4-BE49-F238E27FC236}">
                <a16:creationId xmlns:a16="http://schemas.microsoft.com/office/drawing/2014/main" id="{0978C21F-5F3B-42CE-B575-9CBF6324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1219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defPPr>
            <a:lvl1pPr>
              <a:defRPr sz="3300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1pPr>
            <a:lvl2pPr>
              <a:defRPr sz="3300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2pPr>
            <a:lvl3pPr>
              <a:defRPr sz="3300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3pPr>
            <a:lvl4pPr>
              <a:defRPr sz="3300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4pPr>
            <a:lvl5pPr>
              <a:defRPr sz="3300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5pPr>
            <a:lvl6pPr>
              <a:defRPr sz="3300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6pPr>
            <a:lvl7pPr>
              <a:defRPr sz="3300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7pPr>
            <a:lvl8pPr>
              <a:defRPr sz="3300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8pPr>
            <a:lvl9pPr>
              <a:defRPr sz="3300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E7ECDD"/>
                </a:solidFill>
                <a:latin typeface="Arial"/>
                <a:ea typeface="Arial"/>
                <a:cs typeface="Arial"/>
              </a:rPr>
              <a:t>Планирование озеленения</a:t>
            </a:r>
          </a:p>
          <a:p xmlns:a="http://schemas.openxmlformats.org/drawingml/2006/main">
            <a:pPr>
              <a:defRPr sz="3300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E7ECDD"/>
                </a:solidFill>
                <a:latin typeface="Arial"/>
                <a:ea typeface="Arial"/>
                <a:cs typeface="Arial"/>
              </a:rPr>
              <a:t>на примере участка в Павлодаре</a:t>
            </a:r>
          </a:p>
        </p:txBody>
      </p:sp>
      <p:sp>
        <p:nvSpPr>
          <p:cNvPr id="3" name="Дамир   Бекзат   Айдана   Танирберди">
            <a:extLst xmlns:a="http://schemas.openxmlformats.org/drawingml/2006/main">
              <a:ext uri="{FF2B5EF4-FFF2-40B4-BE49-F238E27FC236}">
                <a16:creationId xmlns:a16="http://schemas.microsoft.com/office/drawing/2014/main" id="{6B666A45-8304-4119-84C0-E7616435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29250"/>
            <a:ext cx="1304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Дамир   Бекзат   Айдана   Танирберди</a:t>
            </a:r>
          </a:p>
        </p:txBody>
      </p:sp>
      <p:sp>
        <p:nvSpPr>
          <p:cNvPr id="4" name="Черновик для репетиции · 31.10.2026">
            <a:extLst xmlns:a="http://schemas.openxmlformats.org/drawingml/2006/main">
              <a:ext uri="{FF2B5EF4-FFF2-40B4-BE49-F238E27FC236}">
                <a16:creationId xmlns:a16="http://schemas.microsoft.com/office/drawing/2014/main" id="{0F055413-B5C8-4388-BA71-F1E8FCD9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810375"/>
            <a:ext cx="1285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ECDD"/>
                </a:solidFill>
                <a:latin typeface="Arial"/>
                <a:ea typeface="Arial"/>
                <a:cs typeface="Arial"/>
              </a:rPr>
              <a:t>Черновик для репетиции · 31.10.2026</a:t>
            </a:r>
          </a:p>
        </p:txBody>
      </p:sp>
      <p:sp>
        <p:nvSpPr>
          <p:cNvPr id="5" name="c08efea · seed/mock · общий финальный SHA и р">
            <a:extLst xmlns:a="http://schemas.openxmlformats.org/drawingml/2006/main">
              <a:ext uri="{FF2B5EF4-FFF2-40B4-BE49-F238E27FC236}">
                <a16:creationId xmlns:a16="http://schemas.microsoft.com/office/drawing/2014/main" id="{C54C00ED-73A5-481B-B776-1AD087FA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410450"/>
            <a:ext cx="1333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7ECDD"/>
                </a:solidFill>
                <a:latin typeface="Arial"/>
                <a:ea typeface="Arial"/>
                <a:cs typeface="Arial"/>
              </a:rPr>
              <a:t>c08efea · seed/mock · общий финальный SHA и регламент ожидают подтверждения</a:t>
            </a:r>
          </a:p>
        </p:txBody>
      </p:sp>
    </p:spTree>
    <p:extLst>
      <p:ext uri="{BB962C8B-B14F-4D97-AF65-F5344CB8AC3E}">
        <p14:creationId xmlns:p14="http://schemas.microsoft.com/office/powerpoint/2010/main" val="17457517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Участок на улице Толстого">
            <a:extLst xmlns:a="http://schemas.openxmlformats.org/drawingml/2006/main">
              <a:ext uri="{FF2B5EF4-FFF2-40B4-BE49-F238E27FC236}">
                <a16:creationId xmlns:a16="http://schemas.microsoft.com/office/drawing/2014/main" id="{B9093B56-D89E-4AEE-89BC-B35BBA9E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4020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8392D"/>
                </a:solidFill>
                <a:latin typeface="Arial"/>
                <a:ea typeface="Arial"/>
                <a:cs typeface="Arial"/>
              </a:rPr>
              <a:t>Участок на улице Толстого</a:t>
            </a:r>
          </a:p>
        </p:txBody>
      </p:sp>
      <p:sp>
        <p:nvSpPr>
          <p:cNvPr id="2" name="Черновик для репетиции · c08efea · seed/mock ">
            <a:extLst xmlns:a="http://schemas.openxmlformats.org/drawingml/2006/main">
              <a:ext uri="{FF2B5EF4-FFF2-40B4-BE49-F238E27FC236}">
                <a16:creationId xmlns:a16="http://schemas.microsoft.com/office/drawing/2014/main" id="{7BFB6A31-085D-4AAB-8C1A-B8FCDC9E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0"/>
            <a:ext cx="1402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4685F"/>
                </a:solidFill>
                <a:latin typeface="Arial"/>
                <a:ea typeface="Arial"/>
                <a:cs typeface="Arial"/>
              </a:rPr>
              <a:t>Черновик для репетиции · c08efea · seed/mock · 2/9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3BD83-C01C-41E1-B226-36A3E518D9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de72732c494b45"/>
          <a:srcRect xmlns:a="http://schemas.openxmlformats.org/drawingml/2006/main" l="0" t="13000" r="36000" b="2000"/>
          <a:stretch xmlns:a="http://schemas.openxmlformats.org/drawingml/2006/main"/>
        </p:blipFill>
        <p:spPr>
          <a:xfrm xmlns:a="http://schemas.openxmlformats.org/drawingml/2006/main">
            <a:off x="523875" y="1495425"/>
            <a:ext cx="8096250" cy="6334125"/>
          </a:xfrm>
          <a:prstGeom xmlns:a="http://schemas.openxmlformats.org/drawingml/2006/main" prst="rect">
            <a:avLst/>
          </a:prstGeom>
        </p:spPr>
      </p:pic>
      <p:sp>
        <p:nvSpPr>
          <p:cNvPr id="4" name="3 782 м²">
            <a:extLst xmlns:a="http://schemas.openxmlformats.org/drawingml/2006/main">
              <a:ext uri="{FF2B5EF4-FFF2-40B4-BE49-F238E27FC236}">
                <a16:creationId xmlns:a16="http://schemas.microsoft.com/office/drawing/2014/main" id="{2F8A4610-3C68-4580-9D7E-8D72B7B4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66875"/>
            <a:ext cx="552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575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defPPr>
            <a:lvl1pPr>
              <a:defRPr sz="4575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1pPr>
            <a:lvl2pPr>
              <a:defRPr sz="4575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2pPr>
            <a:lvl3pPr>
              <a:defRPr sz="4575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3pPr>
            <a:lvl4pPr>
              <a:defRPr sz="4575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4pPr>
            <a:lvl5pPr>
              <a:defRPr sz="4575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5pPr>
            <a:lvl6pPr>
              <a:defRPr sz="4575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6pPr>
            <a:lvl7pPr>
              <a:defRPr sz="4575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7pPr>
            <a:lvl8pPr>
              <a:defRPr sz="4575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8pPr>
            <a:lvl9pPr>
              <a:defRPr sz="4575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75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267250"/>
                </a:solidFill>
                <a:latin typeface="Arial"/>
                <a:ea typeface="Arial"/>
                <a:cs typeface="Arial"/>
              </a:rPr>
              <a:t>3 782 м²</a:t>
            </a:r>
          </a:p>
        </p:txBody>
      </p:sp>
      <p:sp>
        <p:nvSpPr>
          <p:cNvPr id="5" name="Контур участка из OpenStreetMap">
            <a:extLst xmlns:a="http://schemas.openxmlformats.org/drawingml/2006/main">
              <a:ext uri="{FF2B5EF4-FFF2-40B4-BE49-F238E27FC236}">
                <a16:creationId xmlns:a16="http://schemas.microsoft.com/office/drawing/2014/main" id="{D6496CC2-930D-447E-84DB-16DC8419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19375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8392D"/>
                </a:solidFill>
                <a:latin typeface="Arial"/>
                <a:ea typeface="Arial"/>
                <a:cs typeface="Arial"/>
              </a:rPr>
              <a:t>Контур участка из OpenStreetMap</a:t>
            </a:r>
          </a:p>
        </p:txBody>
      </p:sp>
      <p:sp>
        <p:nvSpPr>
          <p:cNvPr id="6" name="Демонстрационный пример&#10;рядом с жильём и соци">
            <a:extLst xmlns:a="http://schemas.openxmlformats.org/drawingml/2006/main">
              <a:ext uri="{FF2B5EF4-FFF2-40B4-BE49-F238E27FC236}">
                <a16:creationId xmlns:a16="http://schemas.microsoft.com/office/drawing/2014/main" id="{E3040A67-DCE5-4012-B75E-B8C6E778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10000"/>
            <a:ext cx="5238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8392D"/>
                </a:solidFill>
                <a:latin typeface="Arial"/>
                <a:ea typeface="Arial"/>
                <a:cs typeface="Arial"/>
              </a:rPr>
              <a:t>Демонстрационный пример</a:t>
            </a:r>
          </a:p>
          <a:p xmlns:a="http://schemas.openxmlformats.org/drawingml/2006/main">
            <a: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8392D"/>
                </a:solidFill>
                <a:latin typeface="Arial"/>
                <a:ea typeface="Arial"/>
                <a:cs typeface="Arial"/>
              </a:rPr>
              <a:t>рядом с жильём и социальными объектами</a:t>
            </a:r>
          </a:p>
        </p:txBody>
      </p:sp>
      <p:sp>
        <p:nvSpPr>
          <p:cNvPr id="7" name="Осмотр и разрешение на посадку&#10;подтверждает ч">
            <a:extLst xmlns:a="http://schemas.openxmlformats.org/drawingml/2006/main">
              <a:ext uri="{FF2B5EF4-FFF2-40B4-BE49-F238E27FC236}">
                <a16:creationId xmlns:a16="http://schemas.microsoft.com/office/drawing/2014/main" id="{BBEED8DC-EBA6-4F97-BF6F-F45B93AE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619750"/>
            <a:ext cx="523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805414"/>
                </a:solidFill>
                <a:latin typeface="Arial"/>
                <a:ea typeface="Arial"/>
                <a:cs typeface="Arial"/>
              </a:rPr>
              <a:t>Осмотр и разрешение на посадку</a:t>
            </a:r>
          </a:p>
          <a:p xmlns:a="http://schemas.openxmlformats.org/drawingml/2006/main">
            <a:pPr>
              <a:defRPr sz="24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805414"/>
                </a:solidFill>
                <a:latin typeface="Arial"/>
                <a:ea typeface="Arial"/>
                <a:cs typeface="Arial"/>
              </a:rPr>
              <a:t>подтверждает человек</a:t>
            </a:r>
          </a:p>
        </p:txBody>
      </p:sp>
      <p:sp>
        <p:nvSpPr>
          <p:cNvPr id="8" name="site-osm-1569993037">
            <a:extLst xmlns:a="http://schemas.openxmlformats.org/drawingml/2006/main">
              <a:ext uri="{FF2B5EF4-FFF2-40B4-BE49-F238E27FC236}">
                <a16:creationId xmlns:a16="http://schemas.microsoft.com/office/drawing/2014/main" id="{7A2023D3-6EC7-48EE-8593-3A84FFFA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7239000"/>
            <a:ext cx="552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4685F"/>
                </a:solidFill>
                <a:latin typeface="Arial"/>
                <a:ea typeface="Arial"/>
                <a:cs typeface="Arial"/>
              </a:rPr>
              <a:t>site-osm-1569993037</a:t>
            </a:r>
          </a:p>
        </p:txBody>
      </p:sp>
    </p:spTree>
    <p:extLst>
      <p:ext uri="{BB962C8B-B14F-4D97-AF65-F5344CB8AC3E}">
        <p14:creationId xmlns:p14="http://schemas.microsoft.com/office/powerpoint/2010/main" val="2680722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Подбор растений и ограничения">
            <a:extLst xmlns:a="http://schemas.openxmlformats.org/drawingml/2006/main">
              <a:ext uri="{FF2B5EF4-FFF2-40B4-BE49-F238E27FC236}">
                <a16:creationId xmlns:a16="http://schemas.microsoft.com/office/drawing/2014/main" id="{F89C935E-4F7A-4121-9D7D-920B4D31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4020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8392D"/>
                </a:solidFill>
                <a:latin typeface="Arial"/>
                <a:ea typeface="Arial"/>
                <a:cs typeface="Arial"/>
              </a:rPr>
              <a:t>Подбор растений и ограничения</a:t>
            </a:r>
          </a:p>
        </p:txBody>
      </p:sp>
      <p:sp>
        <p:nvSpPr>
          <p:cNvPr id="2" name="Черновик для репетиции · c08efea · seed/mock ">
            <a:extLst xmlns:a="http://schemas.openxmlformats.org/drawingml/2006/main">
              <a:ext uri="{FF2B5EF4-FFF2-40B4-BE49-F238E27FC236}">
                <a16:creationId xmlns:a16="http://schemas.microsoft.com/office/drawing/2014/main" id="{D4BCE3D0-C1B4-4ED2-9A54-726FE85C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0"/>
            <a:ext cx="1402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4685F"/>
                </a:solidFill>
                <a:latin typeface="Arial"/>
                <a:ea typeface="Arial"/>
                <a:cs typeface="Arial"/>
              </a:rPr>
              <a:t>Черновик для репетиции · c08efea · seed/mock · 3/9</a:t>
            </a:r>
          </a:p>
        </p:txBody>
      </p:sp>
      <p:sp>
        <p:nvSpPr>
          <p:cNvPr id="3" name="1 345 растений">
            <a:extLst xmlns:a="http://schemas.openxmlformats.org/drawingml/2006/main">
              <a:ext uri="{FF2B5EF4-FFF2-40B4-BE49-F238E27FC236}">
                <a16:creationId xmlns:a16="http://schemas.microsoft.com/office/drawing/2014/main" id="{A18C5259-1FB0-4B84-815B-96DD911A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6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defPPr>
            <a:lvl1pPr>
              <a:defRPr sz="46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1pPr>
            <a:lvl2pPr>
              <a:defRPr sz="46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2pPr>
            <a:lvl3pPr>
              <a:defRPr sz="46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3pPr>
            <a:lvl4pPr>
              <a:defRPr sz="46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4pPr>
            <a:lvl5pPr>
              <a:defRPr sz="46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5pPr>
            <a:lvl6pPr>
              <a:defRPr sz="46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6pPr>
            <a:lvl7pPr>
              <a:defRPr sz="46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7pPr>
            <a:lvl8pPr>
              <a:defRPr sz="46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8pPr>
            <a:lvl9pPr>
              <a:defRPr sz="46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267250"/>
                </a:solidFill>
                <a:latin typeface="Arial"/>
                <a:ea typeface="Arial"/>
                <a:cs typeface="Arial"/>
              </a:rPr>
              <a:t>1 345 растений</a:t>
            </a:r>
          </a:p>
        </p:txBody>
      </p:sp>
      <p:sp>
        <p:nvSpPr>
          <p:cNvPr id="4" name="54 дерева&#10;270 кустарников&#10;1 021 цветок">
            <a:extLst xmlns:a="http://schemas.openxmlformats.org/drawingml/2006/main">
              <a:ext uri="{FF2B5EF4-FFF2-40B4-BE49-F238E27FC236}">
                <a16:creationId xmlns:a16="http://schemas.microsoft.com/office/drawing/2014/main" id="{7D9894AF-E48D-4B1A-B602-97920796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49530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defPPr>
            <a:lvl1pPr>
              <a:defRPr sz="300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1pPr>
            <a:lvl2pPr>
              <a:defRPr sz="300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2pPr>
            <a:lvl3pPr>
              <a:defRPr sz="300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3pPr>
            <a:lvl4pPr>
              <a:defRPr sz="300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4pPr>
            <a:lvl5pPr>
              <a:defRPr sz="300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5pPr>
            <a:lvl6pPr>
              <a:defRPr sz="300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6pPr>
            <a:lvl7pPr>
              <a:defRPr sz="300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7pPr>
            <a:lvl8pPr>
              <a:defRPr sz="300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8pPr>
            <a:lvl9pPr>
              <a:defRPr sz="300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8392D"/>
                </a:solidFill>
                <a:latin typeface="Arial"/>
                <a:ea typeface="Arial"/>
                <a:cs typeface="Arial"/>
              </a:rPr>
              <a:t>54 дерева</a:t>
            </a:r>
          </a:p>
          <a:p xmlns:a="http://schemas.openxmlformats.org/drawingml/2006/main">
            <a:pPr>
              <a:defRPr sz="300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8392D"/>
                </a:solidFill>
                <a:latin typeface="Arial"/>
                <a:ea typeface="Arial"/>
                <a:cs typeface="Arial"/>
              </a:rPr>
              <a:t>270 кустарников</a:t>
            </a:r>
          </a:p>
          <a:p xmlns:a="http://schemas.openxmlformats.org/drawingml/2006/main">
            <a:pPr>
              <a:defRPr sz="300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8392D"/>
                </a:solidFill>
                <a:latin typeface="Arial"/>
                <a:ea typeface="Arial"/>
                <a:cs typeface="Arial"/>
              </a:rPr>
              <a:t>1 021 цветок</a:t>
            </a:r>
          </a:p>
        </p:txBody>
      </p:sp>
      <p:sp>
        <p:nvSpPr>
          <p:cNvPr id="5" name="«Оптимальный»&#10;Сквер · все ярусы&#10;Доля вида в я">
            <a:extLst xmlns:a="http://schemas.openxmlformats.org/drawingml/2006/main">
              <a:ext uri="{FF2B5EF4-FFF2-40B4-BE49-F238E27FC236}">
                <a16:creationId xmlns:a16="http://schemas.microsoft.com/office/drawing/2014/main" id="{2162710A-CA8B-4E33-BAA4-7B846B80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4953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92D"/>
                </a:solidFill>
                <a:latin typeface="Arial"/>
                <a:ea typeface="Arial"/>
                <a:cs typeface="Arial"/>
              </a:rPr>
              <a:t>«Оптимальный»</a:t>
            </a:r>
          </a:p>
          <a:p xmlns:a="http://schemas.openxmlformats.org/drawingml/2006/main">
            <a:pPr>
              <a:defRPr sz="22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92D"/>
                </a:solidFill>
                <a:latin typeface="Arial"/>
                <a:ea typeface="Arial"/>
                <a:cs typeface="Arial"/>
              </a:rPr>
              <a:t>Сквер · все ярусы</a:t>
            </a:r>
          </a:p>
          <a:p xmlns:a="http://schemas.openxmlformats.org/drawingml/2006/main">
            <a:pPr>
              <a:defRPr sz="22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92D"/>
                </a:solidFill>
                <a:latin typeface="Arial"/>
                <a:ea typeface="Arial"/>
                <a:cs typeface="Arial"/>
              </a:rPr>
              <a:t>Доля вида в ярусе до 30%</a:t>
            </a:r>
          </a:p>
        </p:txBody>
      </p:sp>
      <p:sp>
        <p:nvSpPr>
          <p:cNvPr id="6" name="Почва синтетическая: pH 8,6, сильное засолени">
            <a:extLst xmlns:a="http://schemas.openxmlformats.org/drawingml/2006/main">
              <a:ext uri="{FF2B5EF4-FFF2-40B4-BE49-F238E27FC236}">
                <a16:creationId xmlns:a16="http://schemas.microsoft.com/office/drawing/2014/main" id="{6103DDEB-CAFD-4FA0-A755-B2037821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0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805414"/>
                </a:solidFill>
                <a:latin typeface="Arial"/>
                <a:ea typeface="Arial"/>
                <a:cs typeface="Arial"/>
              </a:rPr>
              <a:t>Почва синтетическая: pH 8,6, сильное засоление. Нужен осмотр.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1C088A-B1E1-46FC-815A-607D31CEA6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6b84ccafa94dd4"/>
          <a:stretch xmlns:a="http://schemas.openxmlformats.org/drawingml/2006/main"/>
        </p:blipFill>
        <p:spPr>
          <a:xfrm xmlns:a="http://schemas.openxmlformats.org/drawingml/2006/main">
            <a:off x="6000750" y="3190260"/>
            <a:ext cx="8572500" cy="367787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9718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Смета участка: уход на 2 года">
            <a:extLst xmlns:a="http://schemas.openxmlformats.org/drawingml/2006/main">
              <a:ext uri="{FF2B5EF4-FFF2-40B4-BE49-F238E27FC236}">
                <a16:creationId xmlns:a16="http://schemas.microsoft.com/office/drawing/2014/main" id="{3D45560D-9D4B-4E34-AB39-C29077D1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4020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8392D"/>
                </a:solidFill>
                <a:latin typeface="Arial"/>
                <a:ea typeface="Arial"/>
                <a:cs typeface="Arial"/>
              </a:rPr>
              <a:t>Смета участка: уход на 2 года</a:t>
            </a:r>
          </a:p>
        </p:txBody>
      </p:sp>
      <p:sp>
        <p:nvSpPr>
          <p:cNvPr id="2" name="Черновик для репетиции · c08efea · seed/mock ">
            <a:extLst xmlns:a="http://schemas.openxmlformats.org/drawingml/2006/main">
              <a:ext uri="{FF2B5EF4-FFF2-40B4-BE49-F238E27FC236}">
                <a16:creationId xmlns:a16="http://schemas.microsoft.com/office/drawing/2014/main" id="{24D7522C-07A5-4FCE-B346-30A577AC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0"/>
            <a:ext cx="1402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4685F"/>
                </a:solidFill>
                <a:latin typeface="Arial"/>
                <a:ea typeface="Arial"/>
                <a:cs typeface="Arial"/>
              </a:rPr>
              <a:t>Черновик для репетиции · c08efea · seed/mock · 4/9</a:t>
            </a:r>
          </a:p>
        </p:txBody>
      </p:sp>
      <p:sp>
        <p:nvSpPr>
          <p:cNvPr id="3" name="9 970 478 ₸">
            <a:extLst xmlns:a="http://schemas.openxmlformats.org/drawingml/2006/main">
              <a:ext uri="{FF2B5EF4-FFF2-40B4-BE49-F238E27FC236}">
                <a16:creationId xmlns:a16="http://schemas.microsoft.com/office/drawing/2014/main" id="{AFE9DBD9-B2B1-422D-A14C-5BFDC496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6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defPPr>
            <a:lvl1pPr>
              <a:defRPr sz="46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1pPr>
            <a:lvl2pPr>
              <a:defRPr sz="46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2pPr>
            <a:lvl3pPr>
              <a:defRPr sz="46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3pPr>
            <a:lvl4pPr>
              <a:defRPr sz="46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4pPr>
            <a:lvl5pPr>
              <a:defRPr sz="46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5pPr>
            <a:lvl6pPr>
              <a:defRPr sz="46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6pPr>
            <a:lvl7pPr>
              <a:defRPr sz="46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7pPr>
            <a:lvl8pPr>
              <a:defRPr sz="46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8pPr>
            <a:lvl9pPr>
              <a:defRPr sz="46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267250"/>
                </a:solidFill>
                <a:latin typeface="Arial"/>
                <a:ea typeface="Arial"/>
                <a:cs typeface="Arial"/>
              </a:rPr>
              <a:t>9 970 478 ₸</a:t>
            </a:r>
          </a:p>
        </p:txBody>
      </p:sp>
      <p:sp>
        <p:nvSpPr>
          <p:cNvPr id="4" name="«Оптимальный» · сквер · все ярусы">
            <a:extLst xmlns:a="http://schemas.openxmlformats.org/drawingml/2006/main">
              <a:ext uri="{FF2B5EF4-FFF2-40B4-BE49-F238E27FC236}">
                <a16:creationId xmlns:a16="http://schemas.microsoft.com/office/drawing/2014/main" id="{8ED56DD1-3400-4AFD-BEF2-0459F184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24125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4685F"/>
                </a:solidFill>
                <a:latin typeface="Arial"/>
                <a:ea typeface="Arial"/>
                <a:cs typeface="Arial"/>
              </a:rPr>
              <a:t>«Оптимальный» · сквер · все ярусы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6C560C-8615-4B5E-A56F-F03AA3A59565}"/>
              </a:ext>
            </a:extLst>
          </p:cNvPr>
          <p:cNvGraphicFramePr/>
          <p:nvPr/>
        </p:nvGraphicFramePr>
        <p:xfrm>
          <a:off xmlns:a="http://schemas.openxmlformats.org/drawingml/2006/main" x="714375" y="3238500"/>
          <a:ext xmlns:a="http://schemas.openxmlformats.org/drawingml/2006/main" cx="78105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81625"/>
                <a:gridCol w="2428875"/>
              </a:tblGrid>
              <a:tr h="419100">
                <a:tc>
                  <a:txBody>
                    <a:bodyPr lIns="76200" tIns="76200" rIns="7620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Статья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D1"/>
                      </a:solidFill>
                      <a:prstDash val="solid"/>
                    </a:lnL>
                    <a:lnR w="9525">
                      <a:solidFill>
                        <a:srgbClr val="D4DED1"/>
                      </a:solidFill>
                      <a:prstDash val="solid"/>
                    </a:lnR>
                    <a:lnT w="9525">
                      <a:solidFill>
                        <a:srgbClr val="D4DED1"/>
                      </a:solidFill>
                      <a:prstDash val="solid"/>
                    </a:lnT>
                    <a:lnB w="9525">
                      <a:solidFill>
                        <a:srgbClr val="D4DED1"/>
                      </a:solidFill>
                      <a:prstDash val="solid"/>
                    </a:lnB>
                    <a:solidFill>
                      <a:srgbClr val="164D3A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Сумма, 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D1"/>
                      </a:solidFill>
                      <a:prstDash val="solid"/>
                    </a:lnR>
                    <a:lnT w="9525">
                      <a:solidFill>
                        <a:srgbClr val="D4DED1"/>
                      </a:solidFill>
                      <a:prstDash val="solid"/>
                    </a:lnT>
                    <a:lnB w="9525">
                      <a:solidFill>
                        <a:srgbClr val="D4DED1"/>
                      </a:solidFill>
                      <a:prstDash val="solid"/>
                    </a:lnB>
                    <a:solidFill>
                      <a:srgbClr val="164D3A"/>
                    </a:solidFill>
                  </a:tcPr>
                </a:tc>
              </a:tr>
              <a:tr h="514350">
                <a:tc>
                  <a:txBody>
                    <a:bodyPr lIns="76200" tIns="76200" rIns="76200" bIns="76200"/>
                    <a:lstStyle/>
                    <a:p>
                      <a:r>
                        <a:rPr sz="2025" b="0">
                          <a:solidFill>
                            <a:srgbClr val="18392D"/>
                          </a:solidFill>
                          <a:latin typeface="Arial"/>
                          <a:ea typeface="Arial"/>
                          <a:cs typeface="Arial"/>
                        </a:rPr>
                        <a:t>Посадочный материал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D1"/>
                      </a:solidFill>
                      <a:prstDash val="solid"/>
                    </a:lnL>
                    <a:lnR w="9525">
                      <a:solidFill>
                        <a:srgbClr val="D4DED1"/>
                      </a:solidFill>
                      <a:prstDash val="solid"/>
                    </a:lnR>
                    <a:lnB w="9525">
                      <a:solidFill>
                        <a:srgbClr val="D4DED1"/>
                      </a:solidFill>
                      <a:prstDash val="solid"/>
                    </a:lnB>
                    <a:solidFill>
                      <a:srgbClr val="F6F6E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2025" b="0">
                          <a:solidFill>
                            <a:srgbClr val="18392D"/>
                          </a:solidFill>
                          <a:latin typeface="Arial"/>
                          <a:ea typeface="Arial"/>
                          <a:cs typeface="Arial"/>
                        </a:rPr>
                        <a:t>2 093 100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D1"/>
                      </a:solidFill>
                      <a:prstDash val="solid"/>
                    </a:lnR>
                    <a:lnB w="9525">
                      <a:solidFill>
                        <a:srgbClr val="D4DED1"/>
                      </a:solidFill>
                      <a:prstDash val="solid"/>
                    </a:lnB>
                    <a:solidFill>
                      <a:srgbClr val="F6F6EF"/>
                    </a:solidFill>
                  </a:tcPr>
                </a:tc>
              </a:tr>
              <a:tr h="514350">
                <a:tc>
                  <a:txBody>
                    <a:bodyPr lIns="76200" tIns="76200" rIns="76200" bIns="76200"/>
                    <a:lstStyle/>
                    <a:p>
                      <a:r>
                        <a:rPr sz="2025" b="0">
                          <a:solidFill>
                            <a:srgbClr val="18392D"/>
                          </a:solidFill>
                          <a:latin typeface="Arial"/>
                          <a:ea typeface="Arial"/>
                          <a:cs typeface="Arial"/>
                        </a:rPr>
                        <a:t>Подготовка почвы и участка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D1"/>
                      </a:solidFill>
                      <a:prstDash val="solid"/>
                    </a:lnL>
                    <a:lnR w="9525">
                      <a:solidFill>
                        <a:srgbClr val="D4DED1"/>
                      </a:solidFill>
                      <a:prstDash val="solid"/>
                    </a:lnR>
                    <a:lnB w="9525">
                      <a:solidFill>
                        <a:srgbClr val="D4DED1"/>
                      </a:solidFill>
                      <a:prstDash val="solid"/>
                    </a:lnB>
                    <a:solidFill>
                      <a:srgbClr val="F6F6E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2025" b="0">
                          <a:solidFill>
                            <a:srgbClr val="18392D"/>
                          </a:solidFill>
                          <a:latin typeface="Arial"/>
                          <a:ea typeface="Arial"/>
                          <a:cs typeface="Arial"/>
                        </a:rPr>
                        <a:t>4 765 320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D1"/>
                      </a:solidFill>
                      <a:prstDash val="solid"/>
                    </a:lnR>
                    <a:lnB w="9525">
                      <a:solidFill>
                        <a:srgbClr val="D4DED1"/>
                      </a:solidFill>
                      <a:prstDash val="solid"/>
                    </a:lnB>
                    <a:solidFill>
                      <a:srgbClr val="F6F6EF"/>
                    </a:solidFill>
                  </a:tcPr>
                </a:tc>
              </a:tr>
              <a:tr h="514350">
                <a:tc>
                  <a:txBody>
                    <a:bodyPr lIns="76200" tIns="76200" rIns="76200" bIns="76200"/>
                    <a:lstStyle/>
                    <a:p>
                      <a:r>
                        <a:rPr sz="2025" b="0">
                          <a:solidFill>
                            <a:srgbClr val="18392D"/>
                          </a:solidFill>
                          <a:latin typeface="Arial"/>
                          <a:ea typeface="Arial"/>
                          <a:cs typeface="Arial"/>
                        </a:rPr>
                        <a:t>Посадка и доставка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D1"/>
                      </a:solidFill>
                      <a:prstDash val="solid"/>
                    </a:lnL>
                    <a:lnR w="9525">
                      <a:solidFill>
                        <a:srgbClr val="D4DED1"/>
                      </a:solidFill>
                      <a:prstDash val="solid"/>
                    </a:lnR>
                    <a:lnB w="9525">
                      <a:solidFill>
                        <a:srgbClr val="D4DED1"/>
                      </a:solidFill>
                      <a:prstDash val="solid"/>
                    </a:lnB>
                    <a:solidFill>
                      <a:srgbClr val="F6F6E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2025" b="0">
                          <a:solidFill>
                            <a:srgbClr val="18392D"/>
                          </a:solidFill>
                          <a:latin typeface="Arial"/>
                          <a:ea typeface="Arial"/>
                          <a:cs typeface="Arial"/>
                        </a:rPr>
                        <a:t>1 072 968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D1"/>
                      </a:solidFill>
                      <a:prstDash val="solid"/>
                    </a:lnR>
                    <a:lnB w="9525">
                      <a:solidFill>
                        <a:srgbClr val="D4DED1"/>
                      </a:solidFill>
                      <a:prstDash val="solid"/>
                    </a:lnB>
                    <a:solidFill>
                      <a:srgbClr val="F6F6EF"/>
                    </a:solidFill>
                  </a:tcPr>
                </a:tc>
              </a:tr>
              <a:tr h="514350">
                <a:tc>
                  <a:txBody>
                    <a:bodyPr lIns="76200" tIns="76200" rIns="76200" bIns="76200"/>
                    <a:lstStyle/>
                    <a:p>
                      <a:r>
                        <a:rPr sz="2025" b="0">
                          <a:solidFill>
                            <a:srgbClr val="18392D"/>
                          </a:solidFill>
                          <a:latin typeface="Arial"/>
                          <a:ea typeface="Arial"/>
                          <a:cs typeface="Arial"/>
                        </a:rPr>
                        <a:t>Полив и уход, 2 года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D1"/>
                      </a:solidFill>
                      <a:prstDash val="solid"/>
                    </a:lnL>
                    <a:lnR w="9525">
                      <a:solidFill>
                        <a:srgbClr val="D4DED1"/>
                      </a:solidFill>
                      <a:prstDash val="solid"/>
                    </a:lnR>
                    <a:lnB w="9525">
                      <a:solidFill>
                        <a:srgbClr val="D4DED1"/>
                      </a:solidFill>
                      <a:prstDash val="solid"/>
                    </a:lnB>
                    <a:solidFill>
                      <a:srgbClr val="F6F6E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2025" b="0">
                          <a:solidFill>
                            <a:srgbClr val="18392D"/>
                          </a:solidFill>
                          <a:latin typeface="Arial"/>
                          <a:ea typeface="Arial"/>
                          <a:cs typeface="Arial"/>
                        </a:rPr>
                        <a:t>1 710 300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D1"/>
                      </a:solidFill>
                      <a:prstDash val="solid"/>
                    </a:lnR>
                    <a:lnB w="9525">
                      <a:solidFill>
                        <a:srgbClr val="D4DED1"/>
                      </a:solidFill>
                      <a:prstDash val="solid"/>
                    </a:lnB>
                    <a:solidFill>
                      <a:srgbClr val="F6F6EF"/>
                    </a:solidFill>
                  </a:tcPr>
                </a:tc>
              </a:tr>
              <a:tr h="514350">
                <a:tc>
                  <a:txBody>
                    <a:bodyPr lIns="76200" tIns="76200" rIns="76200" bIns="76200"/>
                    <a:lstStyle/>
                    <a:p>
                      <a:r>
                        <a:rPr sz="2025" b="0">
                          <a:solidFill>
                            <a:srgbClr val="18392D"/>
                          </a:solidFill>
                          <a:latin typeface="Arial"/>
                          <a:ea typeface="Arial"/>
                          <a:cs typeface="Arial"/>
                        </a:rPr>
                        <a:t>Резерв на замену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D1"/>
                      </a:solidFill>
                      <a:prstDash val="solid"/>
                    </a:lnL>
                    <a:lnR w="9525">
                      <a:solidFill>
                        <a:srgbClr val="D4DED1"/>
                      </a:solidFill>
                      <a:prstDash val="solid"/>
                    </a:lnR>
                    <a:lnB w="9525">
                      <a:solidFill>
                        <a:srgbClr val="D4DED1"/>
                      </a:solidFill>
                      <a:prstDash val="solid"/>
                    </a:lnB>
                    <a:solidFill>
                      <a:srgbClr val="F6F6E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2025" b="0">
                          <a:solidFill>
                            <a:srgbClr val="18392D"/>
                          </a:solidFill>
                          <a:latin typeface="Arial"/>
                          <a:ea typeface="Arial"/>
                          <a:cs typeface="Arial"/>
                        </a:rPr>
                        <a:t>328 790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D1"/>
                      </a:solidFill>
                      <a:prstDash val="solid"/>
                    </a:lnR>
                    <a:lnB w="9525">
                      <a:solidFill>
                        <a:srgbClr val="D4DED1"/>
                      </a:solidFill>
                      <a:prstDash val="solid"/>
                    </a:lnB>
                    <a:solidFill>
                      <a:srgbClr val="F6F6EF"/>
                    </a:solidFill>
                  </a:tcPr>
                </a:tc>
              </a:tr>
              <a:tr h="514350">
                <a:tc>
                  <a:txBody>
                    <a:bodyPr lIns="76200" tIns="76200" rIns="76200" bIns="76200"/>
                    <a:lstStyle/>
                    <a:p>
                      <a:r>
                        <a:rPr sz="2025" b="1">
                          <a:solidFill>
                            <a:srgbClr val="18392D"/>
                          </a:solidFill>
                          <a:latin typeface="Arial"/>
                          <a:ea typeface="Arial"/>
                          <a:cs typeface="Arial"/>
                        </a:rPr>
                        <a:t>Итого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D1"/>
                      </a:solidFill>
                      <a:prstDash val="solid"/>
                    </a:lnL>
                    <a:lnR w="9525">
                      <a:solidFill>
                        <a:srgbClr val="D4DED1"/>
                      </a:solidFill>
                      <a:prstDash val="solid"/>
                    </a:lnR>
                    <a:lnB w="9525">
                      <a:solidFill>
                        <a:srgbClr val="D4DED1"/>
                      </a:solidFill>
                      <a:prstDash val="solid"/>
                    </a:lnB>
                    <a:solidFill>
                      <a:srgbClr val="E1EADB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2025" b="1">
                          <a:solidFill>
                            <a:srgbClr val="18392D"/>
                          </a:solidFill>
                          <a:latin typeface="Arial"/>
                          <a:ea typeface="Arial"/>
                          <a:cs typeface="Arial"/>
                        </a:rPr>
                        <a:t>9 970 478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D1"/>
                      </a:solidFill>
                      <a:prstDash val="solid"/>
                    </a:lnR>
                    <a:lnB w="9525">
                      <a:solidFill>
                        <a:srgbClr val="D4DED1"/>
                      </a:solidFill>
                      <a:prstDash val="solid"/>
                    </a:lnB>
                    <a:solidFill>
                      <a:srgbClr val="E1EADB"/>
                    </a:solidFill>
                  </a:tcPr>
                </a:tc>
              </a:tr>
            </a:tbl>
          </a:graphicData>
        </a:graphic>
      </p:graphicFrame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B09C6-E175-4436-8617-93802EC1C7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d6f6180d1a4957"/>
          <a:srcRect xmlns:a="http://schemas.openxmlformats.org/drawingml/2006/main" l="64700" t="41400" r="2000" b="14000"/>
          <a:stretch xmlns:a="http://schemas.openxmlformats.org/drawingml/2006/main"/>
        </p:blipFill>
        <p:spPr>
          <a:xfrm xmlns:a="http://schemas.openxmlformats.org/drawingml/2006/main">
            <a:off x="9191625" y="1571625"/>
            <a:ext cx="5143500" cy="5381625"/>
          </a:xfrm>
          <a:prstGeom xmlns:a="http://schemas.openxmlformats.org/drawingml/2006/main" prst="rect">
            <a:avLst/>
          </a:prstGeom>
        </p:spPr>
      </p:pic>
      <p:sp>
        <p:nvSpPr>
          <p:cNvPr id="7" name="Цены из демо-справочника.&#10;Для проекта нужны д">
            <a:extLst xmlns:a="http://schemas.openxmlformats.org/drawingml/2006/main">
              <a:ext uri="{FF2B5EF4-FFF2-40B4-BE49-F238E27FC236}">
                <a16:creationId xmlns:a16="http://schemas.microsoft.com/office/drawing/2014/main" id="{82F4761F-BC56-44B8-A583-D090AB8A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191375"/>
            <a:ext cx="1371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805414"/>
                </a:solidFill>
                <a:latin typeface="Arial"/>
                <a:ea typeface="Arial"/>
                <a:cs typeface="Arial"/>
              </a:rPr>
              <a:t>Цены из демо-справочника.</a:t>
            </a:r>
          </a:p>
          <a:p xmlns:a="http://schemas.openxmlformats.org/drawingml/2006/main">
            <a: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805414"/>
                </a:solidFill>
                <a:latin typeface="Arial"/>
                <a:ea typeface="Arial"/>
                <a:cs typeface="Arial"/>
              </a:rPr>
              <a:t>Для проекта нужны действующие расценки.</a:t>
            </a:r>
          </a:p>
        </p:txBody>
      </p:sp>
    </p:spTree>
    <p:extLst>
      <p:ext uri="{BB962C8B-B14F-4D97-AF65-F5344CB8AC3E}">
        <p14:creationId xmlns:p14="http://schemas.microsoft.com/office/powerpoint/2010/main" val="9634110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Рост посадок на карте">
            <a:extLst xmlns:a="http://schemas.openxmlformats.org/drawingml/2006/main">
              <a:ext uri="{FF2B5EF4-FFF2-40B4-BE49-F238E27FC236}">
                <a16:creationId xmlns:a16="http://schemas.microsoft.com/office/drawing/2014/main" id="{67ADF66D-5D5D-4E0D-AF53-00F0D475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4020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8392D"/>
                </a:solidFill>
                <a:latin typeface="Arial"/>
                <a:ea typeface="Arial"/>
                <a:cs typeface="Arial"/>
              </a:rPr>
              <a:t>Рост посадок на карте</a:t>
            </a:r>
          </a:p>
        </p:txBody>
      </p:sp>
      <p:sp>
        <p:nvSpPr>
          <p:cNvPr id="2" name="Черновик для репетиции · c08efea · seed/mock ">
            <a:extLst xmlns:a="http://schemas.openxmlformats.org/drawingml/2006/main">
              <a:ext uri="{FF2B5EF4-FFF2-40B4-BE49-F238E27FC236}">
                <a16:creationId xmlns:a16="http://schemas.microsoft.com/office/drawing/2014/main" id="{4781C2E2-8BC1-491F-8290-6A524AE5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0"/>
            <a:ext cx="1402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4685F"/>
                </a:solidFill>
                <a:latin typeface="Arial"/>
                <a:ea typeface="Arial"/>
                <a:cs typeface="Arial"/>
              </a:rPr>
              <a:t>Черновик для репетиции · c08efea · seed/mock · 5/9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096573-917C-4836-88AA-1741A683BB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8d665197b44c67"/>
          <a:srcRect xmlns:a="http://schemas.openxmlformats.org/drawingml/2006/main" l="500" t="13000" r="32200" b="2000"/>
          <a:stretch xmlns:a="http://schemas.openxmlformats.org/drawingml/2006/main"/>
        </p:blipFill>
        <p:spPr>
          <a:xfrm xmlns:a="http://schemas.openxmlformats.org/drawingml/2006/main">
            <a:off x="523875" y="1495425"/>
            <a:ext cx="8477250" cy="6286500"/>
          </a:xfrm>
          <a:prstGeom xmlns:a="http://schemas.openxmlformats.org/drawingml/2006/main" prst="rect">
            <a:avLst/>
          </a:prstGeom>
        </p:spPr>
      </p:pic>
      <p:sp>
        <p:nvSpPr>
          <p:cNvPr id="4" name="Посадка, 5, 10 и 20 лет">
            <a:extLst xmlns:a="http://schemas.openxmlformats.org/drawingml/2006/main">
              <a:ext uri="{FF2B5EF4-FFF2-40B4-BE49-F238E27FC236}">
                <a16:creationId xmlns:a16="http://schemas.microsoft.com/office/drawing/2014/main" id="{430EC625-0DE7-4DEF-B0D8-B83B0F09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145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67250"/>
                </a:solidFill>
                <a:latin typeface="Arial"/>
                <a:ea typeface="Arial"/>
                <a:cs typeface="Arial"/>
              </a:rPr>
              <a:t>Посадка, 5, 10 и 20 лет</a:t>
            </a:r>
          </a:p>
        </p:txBody>
      </p:sp>
      <p:sp>
        <p:nvSpPr>
          <p:cNvPr id="5" name="Через 20 лет:&#10;1 976 м² кроны">
            <a:extLst xmlns:a="http://schemas.openxmlformats.org/drawingml/2006/main">
              <a:ext uri="{FF2B5EF4-FFF2-40B4-BE49-F238E27FC236}">
                <a16:creationId xmlns:a16="http://schemas.microsoft.com/office/drawing/2014/main" id="{76521CC9-9926-42CA-83D8-B3B89151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33750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5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defPPr>
            <a:lvl1pPr>
              <a:defRPr sz="35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1pPr>
            <a:lvl2pPr>
              <a:defRPr sz="35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2pPr>
            <a:lvl3pPr>
              <a:defRPr sz="35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3pPr>
            <a:lvl4pPr>
              <a:defRPr sz="35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4pPr>
            <a:lvl5pPr>
              <a:defRPr sz="35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5pPr>
            <a:lvl6pPr>
              <a:defRPr sz="35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6pPr>
            <a:lvl7pPr>
              <a:defRPr sz="35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7pPr>
            <a:lvl8pPr>
              <a:defRPr sz="35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8pPr>
            <a:lvl9pPr>
              <a:defRPr sz="35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5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3525" b="0">
                <a:solidFill>
                  <a:srgbClr val="18392D"/>
                </a:solidFill>
                <a:latin typeface="Arial"/>
                <a:ea typeface="Arial"/>
                <a:cs typeface="Arial"/>
              </a:rPr>
              <a:t>Через 20 лет:</a:t>
            </a:r>
          </a:p>
          <a:p xmlns:a="http://schemas.openxmlformats.org/drawingml/2006/main">
            <a:pPr>
              <a:defRPr sz="35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3525" b="0">
                <a:solidFill>
                  <a:srgbClr val="18392D"/>
                </a:solidFill>
                <a:latin typeface="Arial"/>
                <a:ea typeface="Arial"/>
                <a:cs typeface="Arial"/>
              </a:rPr>
              <a:t>1 976 м² кроны</a:t>
            </a:r>
          </a:p>
        </p:txBody>
      </p:sp>
      <p:sp>
        <p:nvSpPr>
          <p:cNvPr id="6" name="Оценка по справочникам&#10;и прогнозу приживаемос">
            <a:extLst xmlns:a="http://schemas.openxmlformats.org/drawingml/2006/main">
              <a:ext uri="{FF2B5EF4-FFF2-40B4-BE49-F238E27FC236}">
                <a16:creationId xmlns:a16="http://schemas.microsoft.com/office/drawing/2014/main" id="{D9ED5734-ADB1-4A60-9BAF-076D5C87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86375"/>
            <a:ext cx="504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92D"/>
                </a:solidFill>
                <a:latin typeface="Arial"/>
                <a:ea typeface="Arial"/>
                <a:cs typeface="Arial"/>
              </a:rPr>
              <a:t>Оценка по справочникам</a:t>
            </a:r>
          </a:p>
          <a:p xmlns:a="http://schemas.openxmlformats.org/drawingml/2006/main">
            <a:pPr>
              <a:defRPr sz="23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92D"/>
                </a:solidFill>
                <a:latin typeface="Arial"/>
                <a:ea typeface="Arial"/>
                <a:cs typeface="Arial"/>
              </a:rPr>
              <a:t>и прогнозу приживаемости</a:t>
            </a:r>
          </a:p>
        </p:txBody>
      </p:sp>
      <p:sp>
        <p:nvSpPr>
          <p:cNvPr id="7" name="Условная раскладка.&#10;Точный план требует проек">
            <a:extLst xmlns:a="http://schemas.openxmlformats.org/drawingml/2006/main">
              <a:ext uri="{FF2B5EF4-FFF2-40B4-BE49-F238E27FC236}">
                <a16:creationId xmlns:a16="http://schemas.microsoft.com/office/drawing/2014/main" id="{C3646849-F000-463F-A8D4-E8FCDBB8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838950"/>
            <a:ext cx="5048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805414"/>
                </a:solidFill>
                <a:latin typeface="Arial"/>
                <a:ea typeface="Arial"/>
                <a:cs typeface="Arial"/>
              </a:rPr>
              <a:t>Условная раскладка.</a:t>
            </a:r>
          </a:p>
          <a:p xmlns:a="http://schemas.openxmlformats.org/drawingml/2006/main">
            <a:pPr>
              <a:defRPr sz="21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805414"/>
                </a:solidFill>
                <a:latin typeface="Arial"/>
                <a:ea typeface="Arial"/>
                <a:cs typeface="Arial"/>
              </a:rPr>
              <a:t>Точный план требует проекта.</a:t>
            </a:r>
          </a:p>
        </p:txBody>
      </p:sp>
    </p:spTree>
    <p:extLst>
      <p:ext uri="{BB962C8B-B14F-4D97-AF65-F5344CB8AC3E}">
        <p14:creationId xmlns:p14="http://schemas.microsoft.com/office/powerpoint/2010/main" val="2385314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Служебная записка на русском и казахском">
            <a:extLst xmlns:a="http://schemas.openxmlformats.org/drawingml/2006/main">
              <a:ext uri="{FF2B5EF4-FFF2-40B4-BE49-F238E27FC236}">
                <a16:creationId xmlns:a16="http://schemas.microsoft.com/office/drawing/2014/main" id="{A72F0B1D-B7FF-4A61-8BFF-34BDD199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4020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8392D"/>
                </a:solidFill>
                <a:latin typeface="Arial"/>
                <a:ea typeface="Arial"/>
                <a:cs typeface="Arial"/>
              </a:rPr>
              <a:t>Служебная записка на русском и казахском</a:t>
            </a:r>
          </a:p>
        </p:txBody>
      </p:sp>
      <p:sp>
        <p:nvSpPr>
          <p:cNvPr id="2" name="Черновик для репетиции · c08efea · seed/mock ">
            <a:extLst xmlns:a="http://schemas.openxmlformats.org/drawingml/2006/main">
              <a:ext uri="{FF2B5EF4-FFF2-40B4-BE49-F238E27FC236}">
                <a16:creationId xmlns:a16="http://schemas.microsoft.com/office/drawing/2014/main" id="{45D8263A-BB87-4875-B482-EC9D97A1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0"/>
            <a:ext cx="1402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4685F"/>
                </a:solidFill>
                <a:latin typeface="Arial"/>
                <a:ea typeface="Arial"/>
                <a:cs typeface="Arial"/>
              </a:rPr>
              <a:t>Черновик для репетиции · c08efea · seed/mock · 6/9</a:t>
            </a:r>
          </a:p>
        </p:txBody>
      </p:sp>
      <p:sp>
        <p:nvSpPr>
          <p:cNvPr id="3" name="Один участок и одинаковые параметры расчёта">
            <a:extLst xmlns:a="http://schemas.openxmlformats.org/drawingml/2006/main">
              <a:ext uri="{FF2B5EF4-FFF2-40B4-BE49-F238E27FC236}">
                <a16:creationId xmlns:a16="http://schemas.microsoft.com/office/drawing/2014/main" id="{7BB2324F-500C-46F4-85E3-45B9124C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67250"/>
                </a:solidFill>
                <a:latin typeface="Arial"/>
                <a:ea typeface="Arial"/>
                <a:cs typeface="Arial"/>
              </a:rPr>
              <a:t>Один участок и одинаковые параметры расчёта</a:t>
            </a:r>
          </a:p>
        </p:txBody>
      </p:sp>
      <p:sp>
        <p:nvSpPr>
          <p:cNvPr id="4" name="Русский">
            <a:extLst xmlns:a="http://schemas.openxmlformats.org/drawingml/2006/main">
              <a:ext uri="{FF2B5EF4-FFF2-40B4-BE49-F238E27FC236}">
                <a16:creationId xmlns:a16="http://schemas.microsoft.com/office/drawing/2014/main" id="{2BE53E15-5B7A-46C8-B38F-7E1EEAFF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8600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392D"/>
                </a:solidFill>
                <a:latin typeface="Arial"/>
                <a:ea typeface="Arial"/>
                <a:cs typeface="Arial"/>
              </a:rPr>
              <a:t>Русский</a:t>
            </a:r>
          </a:p>
        </p:txBody>
      </p:sp>
      <p:sp>
        <p:nvSpPr>
          <p:cNvPr id="5" name="Қазақша">
            <a:extLst xmlns:a="http://schemas.openxmlformats.org/drawingml/2006/main">
              <a:ext uri="{FF2B5EF4-FFF2-40B4-BE49-F238E27FC236}">
                <a16:creationId xmlns:a16="http://schemas.microsoft.com/office/drawing/2014/main" id="{CCEE970A-8F28-4C42-AA4B-222AC1B8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392D"/>
                </a:solidFill>
                <a:latin typeface="Arial"/>
                <a:ea typeface="Arial"/>
                <a:cs typeface="Arial"/>
              </a:rPr>
              <a:t>Қазақша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AD1040-26F3-4A1E-9AA9-1AC4672CCD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9e5390ff7e4cf4"/>
          <a:srcRect xmlns:a="http://schemas.openxmlformats.org/drawingml/2006/main" l="0" t="22000" r="65000" b="0"/>
          <a:stretch xmlns:a="http://schemas.openxmlformats.org/drawingml/2006/main"/>
        </p:blipFill>
        <p:spPr>
          <a:xfrm xmlns:a="http://schemas.openxmlformats.org/drawingml/2006/main">
            <a:off x="714375" y="3095625"/>
            <a:ext cx="6477000" cy="3667125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AB7C5D-568D-47D2-9BF5-E5439E0696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c4b655266f4d19"/>
          <a:srcRect xmlns:a="http://schemas.openxmlformats.org/drawingml/2006/main" l="0" t="22000" r="65000" b="0"/>
          <a:stretch xmlns:a="http://schemas.openxmlformats.org/drawingml/2006/main"/>
        </p:blipFill>
        <p:spPr>
          <a:xfrm xmlns:a="http://schemas.openxmlformats.org/drawingml/2006/main">
            <a:off x="7953375" y="3095625"/>
            <a:ext cx="6477000" cy="3667125"/>
          </a:xfrm>
          <a:prstGeom xmlns:a="http://schemas.openxmlformats.org/drawingml/2006/main" prst="rect">
            <a:avLst/>
          </a:prstGeom>
        </p:spPr>
      </p:pic>
      <p:sp>
        <p:nvSpPr>
          <p:cNvPr id="8" name="Экспорт DOCX с отметками источников. Названия">
            <a:extLst xmlns:a="http://schemas.openxmlformats.org/drawingml/2006/main">
              <a:ext uri="{FF2B5EF4-FFF2-40B4-BE49-F238E27FC236}">
                <a16:creationId xmlns:a16="http://schemas.microsoft.com/office/drawing/2014/main" id="{AAD2A720-B75A-4011-BC0C-10FDB426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191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805414"/>
                </a:solidFill>
                <a:latin typeface="Arial"/>
                <a:ea typeface="Arial"/>
                <a:cs typeface="Arial"/>
              </a:rPr>
              <a:t>Экспорт DOCX с отметками источников. Названия объектов сохраняются.</a:t>
            </a:r>
          </a:p>
        </p:txBody>
      </p:sp>
    </p:spTree>
    <p:extLst>
      <p:ext uri="{BB962C8B-B14F-4D97-AF65-F5344CB8AC3E}">
        <p14:creationId xmlns:p14="http://schemas.microsoft.com/office/powerpoint/2010/main" val="20769967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Лаборатория: ограничение воды">
            <a:extLst xmlns:a="http://schemas.openxmlformats.org/drawingml/2006/main">
              <a:ext uri="{FF2B5EF4-FFF2-40B4-BE49-F238E27FC236}">
                <a16:creationId xmlns:a16="http://schemas.microsoft.com/office/drawing/2014/main" id="{955EFAC5-1569-4B5A-9EDE-77BDB91C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4020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8392D"/>
                </a:solidFill>
                <a:latin typeface="Arial"/>
                <a:ea typeface="Arial"/>
                <a:cs typeface="Arial"/>
              </a:rPr>
              <a:t>Лаборатория: ограничение воды</a:t>
            </a:r>
          </a:p>
        </p:txBody>
      </p:sp>
      <p:sp>
        <p:nvSpPr>
          <p:cNvPr id="2" name="Черновик для репетиции · c08efea · seed/mock ">
            <a:extLst xmlns:a="http://schemas.openxmlformats.org/drawingml/2006/main">
              <a:ext uri="{FF2B5EF4-FFF2-40B4-BE49-F238E27FC236}">
                <a16:creationId xmlns:a16="http://schemas.microsoft.com/office/drawing/2014/main" id="{03094EFC-6628-4F41-A8AF-6E9B3E55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0"/>
            <a:ext cx="1402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4685F"/>
                </a:solidFill>
                <a:latin typeface="Arial"/>
                <a:ea typeface="Arial"/>
                <a:cs typeface="Arial"/>
              </a:rPr>
              <a:t>Черновик для репетиции · c08efea · seed/mock · 7/9</a:t>
            </a:r>
          </a:p>
        </p:txBody>
      </p:sp>
      <p:sp>
        <p:nvSpPr>
          <p:cNvPr id="3" name="50 млн ₸ · обычный полив">
            <a:extLst xmlns:a="http://schemas.openxmlformats.org/drawingml/2006/main">
              <a:ext uri="{FF2B5EF4-FFF2-40B4-BE49-F238E27FC236}">
                <a16:creationId xmlns:a16="http://schemas.microsoft.com/office/drawing/2014/main" id="{482BEED7-BD13-4B25-9EA9-4C3F20F9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400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67250"/>
                </a:solidFill>
                <a:latin typeface="Arial"/>
                <a:ea typeface="Arial"/>
                <a:cs typeface="Arial"/>
              </a:rPr>
              <a:t>50 млн ₸ · обычный полив</a:t>
            </a:r>
          </a:p>
        </p:txBody>
      </p:sp>
      <p:sp>
        <p:nvSpPr>
          <p:cNvPr id="4" name="Доступная вода&#10;1600, затем 800 м³/сезон">
            <a:extLst xmlns:a="http://schemas.openxmlformats.org/drawingml/2006/main">
              <a:ext uri="{FF2B5EF4-FFF2-40B4-BE49-F238E27FC236}">
                <a16:creationId xmlns:a16="http://schemas.microsoft.com/office/drawing/2014/main" id="{2321BF72-A82E-42CD-AD60-0870124C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561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defPPr>
            <a:lvl1pPr>
              <a:defRPr sz="33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1pPr>
            <a:lvl2pPr>
              <a:defRPr sz="33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2pPr>
            <a:lvl3pPr>
              <a:defRPr sz="33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3pPr>
            <a:lvl4pPr>
              <a:defRPr sz="33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4pPr>
            <a:lvl5pPr>
              <a:defRPr sz="33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5pPr>
            <a:lvl6pPr>
              <a:defRPr sz="33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6pPr>
            <a:lvl7pPr>
              <a:defRPr sz="33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7pPr>
            <a:lvl8pPr>
              <a:defRPr sz="33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8pPr>
            <a:lvl9pPr>
              <a:defRPr sz="33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18392D"/>
                </a:solidFill>
                <a:latin typeface="Arial"/>
                <a:ea typeface="Arial"/>
                <a:cs typeface="Arial"/>
              </a:rPr>
              <a:t>Доступная вода</a:t>
            </a:r>
          </a:p>
          <a:p xmlns:a="http://schemas.openxmlformats.org/drawingml/2006/main">
            <a:pPr>
              <a:defRPr sz="33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18392D"/>
                </a:solidFill>
                <a:latin typeface="Arial"/>
                <a:ea typeface="Arial"/>
                <a:cs typeface="Arial"/>
              </a:rPr>
              <a:t>1600, затем 800 м³/сезон</a:t>
            </a:r>
          </a:p>
        </p:txBody>
      </p:sp>
      <p:sp>
        <p:nvSpPr>
          <p:cNvPr id="5" name="После перестроения:&#10;39 зон вместо 43&#10;794,8 м³">
            <a:extLst xmlns:a="http://schemas.openxmlformats.org/drawingml/2006/main">
              <a:ext uri="{FF2B5EF4-FFF2-40B4-BE49-F238E27FC236}">
                <a16:creationId xmlns:a16="http://schemas.microsoft.com/office/drawing/2014/main" id="{4988DEEE-B37F-47A1-97E6-0FA65725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60960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392D"/>
                </a:solidFill>
                <a:latin typeface="Arial"/>
                <a:ea typeface="Arial"/>
                <a:cs typeface="Arial"/>
              </a:rPr>
              <a:t>После перестроения:</a:t>
            </a:r>
          </a:p>
          <a:p xmlns:a="http://schemas.openxmlformats.org/drawingml/2006/main">
            <a:pPr>
              <a:defRPr sz="25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392D"/>
                </a:solidFill>
                <a:latin typeface="Arial"/>
                <a:ea typeface="Arial"/>
                <a:cs typeface="Arial"/>
              </a:rPr>
              <a:t>39 зон вместо 43</a:t>
            </a:r>
          </a:p>
          <a:p xmlns:a="http://schemas.openxmlformats.org/drawingml/2006/main">
            <a:pPr>
              <a:defRPr sz="25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392D"/>
                </a:solidFill>
                <a:latin typeface="Arial"/>
                <a:ea typeface="Arial"/>
                <a:cs typeface="Arial"/>
              </a:rPr>
              <a:t>794,8 м³ вместо 1094,2</a:t>
            </a:r>
          </a:p>
          <a:p xmlns:a="http://schemas.openxmlformats.org/drawingml/2006/main">
            <a:pPr>
              <a:defRPr sz="25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392D"/>
                </a:solidFill>
                <a:latin typeface="Arial"/>
                <a:ea typeface="Arial"/>
                <a:cs typeface="Arial"/>
              </a:rPr>
              <a:t>Дефицит воды: 0 м³</a:t>
            </a:r>
          </a:p>
        </p:txBody>
      </p:sp>
      <p:sp>
        <p:nvSpPr>
          <p:cNvPr id="6" name="Показатели расчётные.&#10;Жадный отбор не гаранти">
            <a:extLst xmlns:a="http://schemas.openxmlformats.org/drawingml/2006/main">
              <a:ext uri="{FF2B5EF4-FFF2-40B4-BE49-F238E27FC236}">
                <a16:creationId xmlns:a16="http://schemas.microsoft.com/office/drawing/2014/main" id="{647D6299-3A67-480A-823C-E48941E2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62750"/>
            <a:ext cx="581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805414"/>
                </a:solidFill>
                <a:latin typeface="Arial"/>
                <a:ea typeface="Arial"/>
                <a:cs typeface="Arial"/>
              </a:rPr>
              <a:t>Показатели расчётные.</a:t>
            </a:r>
          </a:p>
          <a:p xmlns:a="http://schemas.openxmlformats.org/drawingml/2006/main">
            <a: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805414"/>
                </a:solidFill>
                <a:latin typeface="Arial"/>
                <a:ea typeface="Arial"/>
                <a:cs typeface="Arial"/>
              </a:rPr>
              <a:t>Жадный отбор не гарантирует</a:t>
            </a:r>
          </a:p>
          <a:p xmlns:a="http://schemas.openxmlformats.org/drawingml/2006/main">
            <a: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805414"/>
                </a:solidFill>
                <a:latin typeface="Arial"/>
                <a:ea typeface="Arial"/>
                <a:cs typeface="Arial"/>
              </a:rPr>
              <a:t>математический оптимум.</a:t>
            </a:r>
          </a:p>
        </p:txBody>
      </p:sp>
      <p:sp>
        <p:nvSpPr>
          <p:cNvPr id="7" name="Больше сохранившихся деревьев">
            <a:extLst xmlns:a="http://schemas.openxmlformats.org/drawingml/2006/main">
              <a:ext uri="{FF2B5EF4-FFF2-40B4-BE49-F238E27FC236}">
                <a16:creationId xmlns:a16="http://schemas.microsoft.com/office/drawing/2014/main" id="{4D95E2A5-0E58-4070-BCA1-6B2F4AF3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14500"/>
            <a:ext cx="700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67250"/>
                </a:solidFill>
                <a:latin typeface="Arial"/>
                <a:ea typeface="Arial"/>
                <a:cs typeface="Arial"/>
              </a:rPr>
              <a:t>Больше сохранившихся деревьев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766CC-A5D1-4BC8-BBB2-CA522368FF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f982d587a54b91"/>
          <a:srcRect xmlns:a="http://schemas.openxmlformats.org/drawingml/2006/main" l="0" t="22000" r="0" b="42000"/>
          <a:stretch xmlns:a="http://schemas.openxmlformats.org/drawingml/2006/main"/>
        </p:blipFill>
        <p:spPr>
          <a:xfrm xmlns:a="http://schemas.openxmlformats.org/drawingml/2006/main">
            <a:off x="7429500" y="2143125"/>
            <a:ext cx="6762750" cy="5381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448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Прогноз и факт: полнота осмотра">
            <a:extLst xmlns:a="http://schemas.openxmlformats.org/drawingml/2006/main">
              <a:ext uri="{FF2B5EF4-FFF2-40B4-BE49-F238E27FC236}">
                <a16:creationId xmlns:a16="http://schemas.microsoft.com/office/drawing/2014/main" id="{18017FF8-4060-412A-80A9-FF43E4A2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4020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8392D"/>
                </a:solidFill>
                <a:latin typeface="Arial"/>
                <a:ea typeface="Arial"/>
                <a:cs typeface="Arial"/>
              </a:rPr>
              <a:t>Прогноз и факт: полнота осмотра</a:t>
            </a:r>
          </a:p>
        </p:txBody>
      </p:sp>
      <p:sp>
        <p:nvSpPr>
          <p:cNvPr id="2" name="Черновик для репетиции · c08efea · seed/mock ">
            <a:extLst xmlns:a="http://schemas.openxmlformats.org/drawingml/2006/main">
              <a:ext uri="{FF2B5EF4-FFF2-40B4-BE49-F238E27FC236}">
                <a16:creationId xmlns:a16="http://schemas.microsoft.com/office/drawing/2014/main" id="{6608E72C-A226-4758-AA26-4B17849E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0"/>
            <a:ext cx="1402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4685F"/>
                </a:solidFill>
                <a:latin typeface="Arial"/>
                <a:ea typeface="Arial"/>
                <a:cs typeface="Arial"/>
              </a:rPr>
              <a:t>Черновик для репетиции · c08efea · seed/mock · 8/9</a:t>
            </a:r>
          </a:p>
        </p:txBody>
      </p:sp>
      <p:sp>
        <p:nvSpPr>
          <p:cNvPr id="3" name="Демо-история · только деревья · сравнение зат">
            <a:extLst xmlns:a="http://schemas.openxmlformats.org/drawingml/2006/main">
              <a:ext uri="{FF2B5EF4-FFF2-40B4-BE49-F238E27FC236}">
                <a16:creationId xmlns:a16="http://schemas.microsoft.com/office/drawing/2014/main" id="{FDAC3C7D-4F9A-4E29-B0C3-7BD9C53B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400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7250"/>
                </a:solidFill>
                <a:latin typeface="Arial"/>
                <a:ea typeface="Arial"/>
                <a:cs typeface="Arial"/>
              </a:rPr>
              <a:t>Демо-история · только деревья · сравнение затрат за 3 года</a:t>
            </a:r>
          </a:p>
        </p:txBody>
      </p:sp>
      <p:sp>
        <p:nvSpPr>
          <p:cNvPr id="4" name="Полный осмотр: 27 из 32 живы, 84,4% при прогн">
            <a:extLst xmlns:a="http://schemas.openxmlformats.org/drawingml/2006/main">
              <a:ext uri="{FF2B5EF4-FFF2-40B4-BE49-F238E27FC236}">
                <a16:creationId xmlns:a16="http://schemas.microsoft.com/office/drawing/2014/main" id="{00804C15-01E2-4F6A-80AE-72BB68E0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24075"/>
            <a:ext cx="1390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defPPr>
            <a:lvl1pPr>
              <a:defRPr sz="26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1pPr>
            <a:lvl2pPr>
              <a:defRPr sz="26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2pPr>
            <a:lvl3pPr>
              <a:defRPr sz="26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3pPr>
            <a:lvl4pPr>
              <a:defRPr sz="26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4pPr>
            <a:lvl5pPr>
              <a:defRPr sz="26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5pPr>
            <a:lvl6pPr>
              <a:defRPr sz="26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6pPr>
            <a:lvl7pPr>
              <a:defRPr sz="26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7pPr>
            <a:lvl8pPr>
              <a:defRPr sz="26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8pPr>
            <a:lvl9pPr>
              <a:defRPr sz="26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8392D"/>
                </a:solidFill>
                <a:latin typeface="Arial"/>
                <a:ea typeface="Arial"/>
                <a:cs typeface="Arial"/>
              </a:rPr>
              <a:t>Полный осмотр: 27 из 32 живы, 84,4% при прогнозе 83% за 1 год</a:t>
            </a:r>
          </a:p>
        </p:txBody>
      </p:sp>
      <p:sp>
        <p:nvSpPr>
          <p:cNvPr id="5" name="Частичный&#10;осмотр">
            <a:extLst xmlns:a="http://schemas.openxmlformats.org/drawingml/2006/main">
              <a:ext uri="{FF2B5EF4-FFF2-40B4-BE49-F238E27FC236}">
                <a16:creationId xmlns:a16="http://schemas.microsoft.com/office/drawing/2014/main" id="{B583AAA9-370D-4510-BF9C-7D2ABA42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67250"/>
                </a:solidFill>
                <a:latin typeface="Arial"/>
                <a:ea typeface="Arial"/>
                <a:cs typeface="Arial"/>
              </a:rPr>
              <a:t>Частичный</a:t>
            </a:r>
          </a:p>
          <a:p xmlns:a="http://schemas.openxmlformats.org/drawingml/2006/main">
            <a:pPr>
              <a:defRPr sz="21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67250"/>
                </a:solidFill>
                <a:latin typeface="Arial"/>
                <a:ea typeface="Arial"/>
                <a:cs typeface="Arial"/>
              </a:rPr>
              <a:t>осмотр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67EB19-0477-4256-BB86-BFE5C4069C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9095f3bd134ef7"/>
          <a:stretch xmlns:a="http://schemas.openxmlformats.org/drawingml/2006/main"/>
        </p:blipFill>
        <p:spPr>
          <a:xfrm xmlns:a="http://schemas.openxmlformats.org/drawingml/2006/main">
            <a:off x="2642480" y="2905125"/>
            <a:ext cx="9955040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Модель обучена на синтетике и не калибрована ">
            <a:extLst xmlns:a="http://schemas.openxmlformats.org/drawingml/2006/main">
              <a:ext uri="{FF2B5EF4-FFF2-40B4-BE49-F238E27FC236}">
                <a16:creationId xmlns:a16="http://schemas.microsoft.com/office/drawing/2014/main" id="{2C14417C-F193-4C25-A82E-3E1301C6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334250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805414"/>
                </a:solidFill>
                <a:latin typeface="Arial"/>
                <a:ea typeface="Arial"/>
                <a:cs typeface="Arial"/>
              </a:rPr>
              <a:t>Модель обучена на синтетике и не калибрована на Павлодаре.</a:t>
            </a:r>
          </a:p>
          <a:p xmlns:a="http://schemas.openxmlformats.org/drawingml/2006/main">
            <a: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805414"/>
                </a:solidFill>
                <a:latin typeface="Arial"/>
                <a:ea typeface="Arial"/>
                <a:cs typeface="Arial"/>
              </a:rPr>
              <a:t>Вымышленная история и +1,4 п.п. не доказывают точность.</a:t>
            </a:r>
          </a:p>
        </p:txBody>
      </p:sp>
    </p:spTree>
    <p:extLst>
      <p:ext uri="{BB962C8B-B14F-4D97-AF65-F5344CB8AC3E}">
        <p14:creationId xmlns:p14="http://schemas.microsoft.com/office/powerpoint/2010/main" val="11369670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Кабинет работника в адаптивном вебе">
            <a:extLst xmlns:a="http://schemas.openxmlformats.org/drawingml/2006/main">
              <a:ext uri="{FF2B5EF4-FFF2-40B4-BE49-F238E27FC236}">
                <a16:creationId xmlns:a16="http://schemas.microsoft.com/office/drawing/2014/main" id="{68E5B99D-9FC8-4FEE-BA15-5C6994FE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4020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8392D"/>
                </a:solidFill>
                <a:latin typeface="Arial"/>
                <a:ea typeface="Arial"/>
                <a:cs typeface="Arial"/>
              </a:rPr>
              <a:t>Кабинет работника в адаптивном вебе</a:t>
            </a:r>
          </a:p>
        </p:txBody>
      </p:sp>
      <p:sp>
        <p:nvSpPr>
          <p:cNvPr id="2" name="Черновик для репетиции · c08efea · seed/mock ">
            <a:extLst xmlns:a="http://schemas.openxmlformats.org/drawingml/2006/main">
              <a:ext uri="{FF2B5EF4-FFF2-40B4-BE49-F238E27FC236}">
                <a16:creationId xmlns:a16="http://schemas.microsoft.com/office/drawing/2014/main" id="{AF257239-8443-498A-A923-49EB64C3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0"/>
            <a:ext cx="1402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4685F"/>
                </a:solidFill>
                <a:latin typeface="Arial"/>
                <a:ea typeface="Arial"/>
                <a:cs typeface="Arial"/>
              </a:rPr>
              <a:t>Черновик для репетиции · c08efea · seed/mock · 9/9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4A8690-A03F-465C-8ECA-B9F31C1AD2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f509e598554442"/>
          <a:srcRect xmlns:a="http://schemas.openxmlformats.org/drawingml/2006/main" l="0" t="9000" r="0" b="8000"/>
          <a:stretch xmlns:a="http://schemas.openxmlformats.org/drawingml/2006/main"/>
        </p:blipFill>
        <p:spPr>
          <a:xfrm xmlns:a="http://schemas.openxmlformats.org/drawingml/2006/main">
            <a:off x="619125" y="1762125"/>
            <a:ext cx="9525000" cy="5857875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6E7F1-979C-44EB-A3AC-DE52D49FC8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8f366d5c064327"/>
          <a:stretch xmlns:a="http://schemas.openxmlformats.org/drawingml/2006/main"/>
        </p:blipFill>
        <p:spPr>
          <a:xfrm xmlns:a="http://schemas.openxmlformats.org/drawingml/2006/main">
            <a:off x="11314906" y="1762125"/>
            <a:ext cx="2373313" cy="5476875"/>
          </a:xfrm>
          <a:prstGeom xmlns:a="http://schemas.openxmlformats.org/drawingml/2006/main" prst="rect">
            <a:avLst/>
          </a:prstGeom>
        </p:spPr>
      </p:pic>
      <p:sp>
        <p:nvSpPr>
          <p:cNvPr id="5" name="Desktop и mobile">
            <a:extLst xmlns:a="http://schemas.openxmlformats.org/drawingml/2006/main">
              <a:ext uri="{FF2B5EF4-FFF2-40B4-BE49-F238E27FC236}">
                <a16:creationId xmlns:a16="http://schemas.microsoft.com/office/drawing/2014/main" id="{8349343A-7C08-4191-8099-C48A21C5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7250"/>
                </a:solidFill>
                <a:latin typeface="Arial"/>
                <a:ea typeface="Arial"/>
                <a:cs typeface="Arial"/>
              </a:rPr>
              <a:t>Desktop и mobile</a:t>
            </a:r>
          </a:p>
        </p:txBody>
      </p:sp>
      <p:sp>
        <p:nvSpPr>
          <p:cNvPr id="6" name="Учебные задания. Внутри кабинета русский инте">
            <a:extLst xmlns:a="http://schemas.openxmlformats.org/drawingml/2006/main">
              <a:ext uri="{FF2B5EF4-FFF2-40B4-BE49-F238E27FC236}">
                <a16:creationId xmlns:a16="http://schemas.microsoft.com/office/drawing/2014/main" id="{6BFE8F2F-8080-4456-9E91-EC2BD3F9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67625"/>
            <a:ext cx="1409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805414"/>
                </a:solidFill>
                <a:latin typeface="Arial"/>
                <a:ea typeface="Arial"/>
                <a:cs typeface="Arial"/>
              </a:rPr>
              <a:t>Учебные задания. Внутри кабинета русский интерфейс, перевод KK частичный.</a:t>
            </a:r>
          </a:p>
        </p:txBody>
      </p:sp>
    </p:spTree>
    <p:extLst>
      <p:ext uri="{BB962C8B-B14F-4D97-AF65-F5344CB8AC3E}">
        <p14:creationId xmlns:p14="http://schemas.microsoft.com/office/powerpoint/2010/main" val="5981833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2026-10-30T20:08:06.9730000Z</dcterms:created>
  <dcterms:modified xsi:type="dcterms:W3CDTF">2026-10-30T20:08:06.9730000Z</dcterms:modified>
</coreProperties>
</file>